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70" r:id="rId15"/>
    <p:sldId id="269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-2088" y="-1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2:31:26.7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11 24575,'13'57'0,"-13"-63"0,-2-17 0,1 23 0,0 0 0,0 1 0,0-1 0,0 0 0,0 1 0,0-1 0,1 1 0,-1-1 0,0 1 0,0-1 0,0 1 0,1 0 0,-1 0 0,0-1 0,1 1 0,-1 0 0,0 0 0,1 0 0,-1-1 0,1 1 0,0 0 0,-1 0 0,1 0 0,-1 2 0,1-3 0,0 0 0,0 0 0,0 1 0,0-1 0,0 0 0,0 0 0,0 0 0,0 1 0,0-1 0,0 0 0,-1 0 0,1 0 0,0 0 0,0 1 0,0-1 0,0 0 0,0 0 0,0 0 0,-1 0 0,1 0 0,0 1 0,0-1 0,0 0 0,-1 0 0,1 0 0,0 0 0,0 0 0,0 0 0,0 0 0,-1 0 0,1 0 0,0 0 0,0 0 0,-1 0 0,1 0 0,0 0 0,0 0 0,0 0 0,-1 0 0,1 0 0,0 0 0,0 0 0,0 0 0,-1 0 0,1 0 0,0 0 0,0 0 0,0 0 0,0-1 0,-1 1 0,1 0 0,0 0 0,0 0 0,0 0 0,0 0 0,0-1 0,0 1 0,-1 0 0,1 0 0,0 0 0,0-1 0,0 1 0,0 0 0,0 0 0,0 0 0,0-1 0,0 1 0,-6-23 0,-1-2 0,4 37 0,-1 10 0,0-22 0,0-13 0,1 9 0,0 10 0,-3 4 0,6-10 0,-1 0 0,0-1 0,0 1 0,1 0 0,-1-1 0,0 1 0,1-1 0,-1 1 0,1-1 0,-1 1 0,1-1 0,-1 0 0,1 1 0,-1-1 0,1 1 0,0-1 0,-1 0 0,1 0 0,0 1 0,-1-1 0,1 0 0,0 0 0,0 1 0,0-1 0,-1-1 0,-7-24-1365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64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6.png" /><Relationship Id="rId4" Type="http://schemas.openxmlformats.org/officeDocument/2006/relationships/customXml" Target="../ink/ink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000750" y="182880"/>
            <a:ext cx="2926080" cy="2926080"/>
          </a:xfrm>
          <a:prstGeom prst="ellipse">
            <a:avLst/>
          </a:prstGeom>
          <a:solidFill>
            <a:srgbClr val="0A1929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092190" y="2743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</a:rPr>
              <a:t>⚽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Futbolcu Oyun Stili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· VAE · SOM Tabanlı Kümeleme ve Öneri Sistemi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74320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92024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20 Özellik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337560"/>
            <a:ext cx="192024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56032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1</a:t>
            </a:r>
            <a:r>
              <a:rPr lang="tr-TR" sz="1100" b="1" dirty="0">
                <a:solidFill>
                  <a:srgbClr val="00B4D8"/>
                </a:solidFill>
              </a:rPr>
              <a:t>833</a:t>
            </a:r>
            <a:r>
              <a:rPr lang="en-US" sz="1100" b="1" dirty="0">
                <a:solidFill>
                  <a:srgbClr val="00B4D8"/>
                </a:solidFill>
              </a:rPr>
              <a:t> Oyuncu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337560"/>
            <a:ext cx="192024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3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3337560"/>
            <a:ext cx="192024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76656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0525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Yapay Sinir Ağlarına Giriş Dersi  —  Proje Sunumu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BC8ABE44-C7FF-0A9C-B831-4874EF9123DC}"/>
              </a:ext>
            </a:extLst>
          </p:cNvPr>
          <p:cNvSpPr txBox="1"/>
          <p:nvPr/>
        </p:nvSpPr>
        <p:spPr>
          <a:xfrm>
            <a:off x="390525" y="3744128"/>
            <a:ext cx="8096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1211602014-Mehmet Enes VARIM </a:t>
            </a:r>
          </a:p>
          <a:p>
            <a:r>
              <a:rPr lang="tr-TR" sz="1200" dirty="0">
                <a:solidFill>
                  <a:schemeClr val="bg1"/>
                </a:solidFill>
              </a:rPr>
              <a:t>1221602806-Zehra YÜKSEL</a:t>
            </a:r>
          </a:p>
          <a:p>
            <a:r>
              <a:rPr lang="tr-TR" sz="1200" dirty="0">
                <a:solidFill>
                  <a:schemeClr val="bg1"/>
                </a:solidFill>
              </a:rPr>
              <a:t>1221602027-Canan Sıla ERMİŞ </a:t>
            </a:r>
          </a:p>
          <a:p>
            <a:r>
              <a:rPr lang="tr-TR" sz="1200" dirty="0">
                <a:solidFill>
                  <a:schemeClr val="bg1"/>
                </a:solidFill>
              </a:rPr>
              <a:t>1221602050-Berk ŞAHİN </a:t>
            </a:r>
          </a:p>
          <a:p>
            <a:r>
              <a:rPr lang="tr-TR" sz="1200" dirty="0">
                <a:solidFill>
                  <a:schemeClr val="bg1"/>
                </a:solidFill>
              </a:rPr>
              <a:t>1221602082-Elifnur EMRAN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Hakkında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2404872"/>
            <a:ext cx="1280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/>
              <a:t>Futbolcuların maç istatistiklerini analiz ederek </a:t>
            </a:r>
            <a:r>
              <a:rPr lang="en-US" sz="1100" b="1" dirty="0" err="1"/>
              <a:t>oyun</a:t>
            </a:r>
            <a:r>
              <a:rPr lang="en-US" sz="1100" b="1" dirty="0"/>
              <a:t> </a:t>
            </a:r>
            <a:r>
              <a:rPr lang="en-US" sz="1100" b="1" dirty="0" err="1"/>
              <a:t>stillerini</a:t>
            </a:r>
            <a:r>
              <a:rPr lang="tr-TR" sz="1100" b="1" dirty="0"/>
              <a:t> </a:t>
            </a:r>
            <a:r>
              <a:rPr lang="en-US" sz="1100" b="1" dirty="0" err="1"/>
              <a:t>tespit</a:t>
            </a:r>
            <a:r>
              <a:rPr lang="en-US" sz="1100" b="1" dirty="0"/>
              <a:t> etmek ve benzer oyuncuları önermek.</a:t>
            </a:r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931920" y="2404872"/>
            <a:ext cx="1280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/>
              <a:t>20 performans metriği kullanılmaktadır: hücum (Gls, xG), pas (Cmp%, PrgP), defans (Tkl, Int) ve top taşıma (PrgC, Carries) grupları.</a:t>
            </a:r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12648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0" y="2404872"/>
            <a:ext cx="1280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/>
              <a:t>Üç farklı derin öğrenme modeli (Autoencoder, VAE, SOM) ile gözetimsiz öğrenme yaklaşımıyla oyuncular kümelere ayrılmaktadır.</a:t>
            </a:r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Yapısı &amp;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234440" cy="1371600"/>
          </a:xfrm>
          <a:prstGeom prst="rect">
            <a:avLst/>
          </a:prstGeom>
          <a:solidFill>
            <a:srgbClr val="0F2C54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2344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Veri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Yükleme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futbolcular.csv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Kaleci filtresi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90s ≥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1865376"/>
            <a:ext cx="2103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764792" y="1234440"/>
            <a:ext cx="1234440" cy="1371600"/>
          </a:xfrm>
          <a:prstGeom prst="rect">
            <a:avLst/>
          </a:prstGeom>
          <a:solidFill>
            <a:srgbClr val="0F2C54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764792" y="1234440"/>
            <a:ext cx="12344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764792" y="13258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Ön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İşleme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64792" y="19202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RobustScaler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Eksik değer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Train/Val/Test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99232" y="1865376"/>
            <a:ext cx="2103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209544" y="1234440"/>
            <a:ext cx="1234440" cy="1371600"/>
          </a:xfrm>
          <a:prstGeom prst="rect">
            <a:avLst/>
          </a:prstGeom>
          <a:solidFill>
            <a:srgbClr val="0F2C54"/>
          </a:solidFill>
          <a:ln w="254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209544" y="1234440"/>
            <a:ext cx="1234440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209544" y="13258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</a:rPr>
              <a:t>Eğitimi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9544" y="19202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V1: AE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V2: VAE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V3: SOM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43984" y="1865376"/>
            <a:ext cx="2103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654296" y="1234440"/>
            <a:ext cx="1234440" cy="1371600"/>
          </a:xfrm>
          <a:prstGeom prst="rect">
            <a:avLst/>
          </a:prstGeom>
          <a:solidFill>
            <a:srgbClr val="0F2C54"/>
          </a:solidFill>
          <a:ln w="254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654296" y="1234440"/>
            <a:ext cx="1234440" cy="914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654296" y="13258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</a:rPr>
              <a:t>Kümeleme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54296" y="19202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Ensemble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GMM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SOM Map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88736" y="1865376"/>
            <a:ext cx="2103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6099048" y="1234440"/>
            <a:ext cx="1234440" cy="1371600"/>
          </a:xfrm>
          <a:prstGeom prst="rect">
            <a:avLst/>
          </a:prstGeom>
          <a:solidFill>
            <a:srgbClr val="0F2C54"/>
          </a:solidFill>
          <a:ln w="254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099048" y="1234440"/>
            <a:ext cx="1234440" cy="914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099048" y="13258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Benzerlik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Analizi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9048" y="19202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Cosine 0.6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Euclid. 0.4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Hibrit Skor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33488" y="1865376"/>
            <a:ext cx="2103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7543800" y="1234440"/>
            <a:ext cx="1234440" cy="1371600"/>
          </a:xfrm>
          <a:prstGeom prst="rect">
            <a:avLst/>
          </a:prstGeom>
          <a:solidFill>
            <a:srgbClr val="0F2C54"/>
          </a:solidFill>
          <a:ln w="25400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7543800" y="1234440"/>
            <a:ext cx="1234440" cy="91440"/>
          </a:xfrm>
          <a:prstGeom prst="rect">
            <a:avLst/>
          </a:prstGeom>
          <a:solidFill>
            <a:srgbClr val="F15BB5"/>
          </a:solidFill>
          <a:ln w="12700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7543800" y="13258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5BB5"/>
                </a:solidFill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15BB5"/>
                </a:solidFill>
              </a:rPr>
              <a:t>Arayüz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43800" y="19202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Tekli Analiz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Karşılaştırma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Görselleştirme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Kullanılan 20 Özellik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74320" y="3246120"/>
            <a:ext cx="2011680" cy="1554480"/>
          </a:xfrm>
          <a:prstGeom prst="rect">
            <a:avLst/>
          </a:prstGeom>
          <a:solidFill>
            <a:srgbClr val="0F2C54"/>
          </a:solidFill>
          <a:ln w="1905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27432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</a:rPr>
              <a:t>Hücum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Gls · Ast · xG · xAG · npxG · Sh/90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68880" y="3246120"/>
            <a:ext cx="2011680" cy="1554480"/>
          </a:xfrm>
          <a:prstGeom prst="rect">
            <a:avLst/>
          </a:prstGeom>
          <a:solidFill>
            <a:srgbClr val="0F2C54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246888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Pas &amp; Yaratıcılık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6032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Cmp% · PrgP · KP · PPA · SCA90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246120"/>
            <a:ext cx="2011680" cy="1554480"/>
          </a:xfrm>
          <a:prstGeom prst="rect">
            <a:avLst/>
          </a:prstGeom>
          <a:solidFill>
            <a:srgbClr val="0F2C54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466344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Defans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Tkl · TklW · Int · Clr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58000" y="3246120"/>
            <a:ext cx="2011680" cy="1554480"/>
          </a:xfrm>
          <a:prstGeom prst="rect">
            <a:avLst/>
          </a:prstGeom>
          <a:solidFill>
            <a:srgbClr val="0F2C54"/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68580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</a:rPr>
              <a:t>Top Taşıma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4944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PrgC · PrgR · Succ% · Carries · Touches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82880" y="137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</a:rPr>
              <a:t>Model V1 — Autoencoder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71500" y="1561754"/>
            <a:ext cx="594360" cy="1631373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71500" y="1561754"/>
            <a:ext cx="594360" cy="1631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Girdi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6586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211580" y="1234440"/>
            <a:ext cx="1005840" cy="2286000"/>
          </a:xfrm>
          <a:prstGeom prst="rect">
            <a:avLst/>
          </a:prstGeom>
          <a:solidFill>
            <a:srgbClr val="0A9D8A"/>
          </a:solidFill>
          <a:ln w="12700">
            <a:solidFill>
              <a:srgbClr val="0A9D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211580" y="1234440"/>
            <a:ext cx="1005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1742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263140" y="1379913"/>
            <a:ext cx="822960" cy="1995055"/>
          </a:xfrm>
          <a:prstGeom prst="rect">
            <a:avLst/>
          </a:prstGeom>
          <a:solidFill>
            <a:srgbClr val="0A8D7A"/>
          </a:solidFill>
          <a:ln w="12700">
            <a:solidFill>
              <a:srgbClr val="0A8D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263140" y="1379913"/>
            <a:ext cx="822960" cy="1995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8610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131820" y="1525385"/>
            <a:ext cx="640080" cy="1704109"/>
          </a:xfrm>
          <a:prstGeom prst="rect">
            <a:avLst/>
          </a:prstGeom>
          <a:solidFill>
            <a:srgbClr val="0A7D6A"/>
          </a:solidFill>
          <a:ln w="12700">
            <a:solidFill>
              <a:srgbClr val="0A7D6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131820" y="1525385"/>
            <a:ext cx="640080" cy="1704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7190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817620" y="1634490"/>
            <a:ext cx="502920" cy="1485900"/>
          </a:xfrm>
          <a:prstGeom prst="rect">
            <a:avLst/>
          </a:prstGeom>
          <a:solidFill>
            <a:srgbClr val="0A6D5A"/>
          </a:solidFill>
          <a:ln w="12700">
            <a:solidFill>
              <a:srgbClr val="0A6D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817620" y="1634490"/>
            <a:ext cx="502920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2054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366260" y="1707226"/>
            <a:ext cx="411480" cy="1340427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366260" y="1707226"/>
            <a:ext cx="411480" cy="1340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7774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823460" y="1634490"/>
            <a:ext cx="502920" cy="1485900"/>
          </a:xfrm>
          <a:prstGeom prst="rect">
            <a:avLst/>
          </a:prstGeom>
          <a:solidFill>
            <a:srgbClr val="0A6D5A"/>
          </a:solidFill>
          <a:ln w="12700">
            <a:solidFill>
              <a:srgbClr val="0A6D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823460" y="1634490"/>
            <a:ext cx="502920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2638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5372100" y="1525385"/>
            <a:ext cx="640080" cy="1704109"/>
          </a:xfrm>
          <a:prstGeom prst="rect">
            <a:avLst/>
          </a:prstGeom>
          <a:solidFill>
            <a:srgbClr val="0A7D6A"/>
          </a:solidFill>
          <a:ln w="12700">
            <a:solidFill>
              <a:srgbClr val="0A7D6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372100" y="1525385"/>
            <a:ext cx="640080" cy="1704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1218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6057900" y="1379913"/>
            <a:ext cx="822960" cy="1995055"/>
          </a:xfrm>
          <a:prstGeom prst="rect">
            <a:avLst/>
          </a:prstGeom>
          <a:solidFill>
            <a:srgbClr val="0A8D7A"/>
          </a:solidFill>
          <a:ln w="12700">
            <a:solidFill>
              <a:srgbClr val="0A8D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057900" y="1379913"/>
            <a:ext cx="822960" cy="1995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8086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926580" y="1234440"/>
            <a:ext cx="1005840" cy="2286000"/>
          </a:xfrm>
          <a:prstGeom prst="rect">
            <a:avLst/>
          </a:prstGeom>
          <a:solidFill>
            <a:srgbClr val="0A9D8A"/>
          </a:solidFill>
          <a:ln w="12700">
            <a:solidFill>
              <a:srgbClr val="0A9D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926580" y="1234440"/>
            <a:ext cx="1005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32420" y="2368296"/>
            <a:ext cx="457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7978140" y="1561754"/>
            <a:ext cx="594360" cy="1631373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7978140" y="1561754"/>
            <a:ext cx="594360" cy="1631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Çıktı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</a:rPr>
              <a:t>← Encoder 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</a:rPr>
              <a:t>← Decoder 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35844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703"/>
                </a:solidFill>
              </a:rPr>
              <a:t>Latent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B703"/>
                </a:solidFill>
              </a:rPr>
              <a:t>Space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069080"/>
            <a:ext cx="1965960" cy="822960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274320" y="40965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Kümeleme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370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</a:rPr>
              <a:t>KMeans + Agglomerative + GMM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</a:rPr>
              <a:t>Ensemble Oylama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23160" y="4069080"/>
            <a:ext cx="1965960" cy="822960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2423160" y="40965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Metrik Ağırlığı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423160" y="4370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</a:rPr>
              <a:t>Silhouette 0.5 · DB 0.3 · CH 0.2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4069080"/>
            <a:ext cx="1965960" cy="822960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572000" y="40965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Kayıp Fonksiyonu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0" y="4370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</a:rPr>
              <a:t>MSE (Mean Squared Error)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20840" y="4069080"/>
            <a:ext cx="1965960" cy="822960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6720840" y="40965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Optimal Küme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20840" y="4370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</a:rPr>
              <a:t>k = 5 Küme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82880" y="137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117"/>
                </a:solidFill>
              </a:rPr>
              <a:t>V1 — Eğitim / Validasyon Kayıp Eğrisi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85800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005840"/>
            <a:ext cx="1554480" cy="342900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7360920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📌 Gözlemler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06640" y="1463040"/>
            <a:ext cx="1417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Best Val: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0.0790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~90 epoch'ta stabil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Aşırı uyum yok — </a:t>
            </a:r>
            <a:endParaRPr lang="tr-TR" sz="9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train ≈ val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Epoch 65'te küçük spike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82880" y="137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117"/>
                </a:solidFill>
              </a:rPr>
              <a:t>V1 — Oyun Stili Kümeleri (t-SNE &amp; UMAP)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05840"/>
            <a:ext cx="8869680" cy="35478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411480" y="4700016"/>
            <a:ext cx="164592" cy="16459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612648" y="468172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117"/>
                </a:solidFill>
              </a:rPr>
              <a:t>C0 (301)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103120" y="4700016"/>
            <a:ext cx="164592" cy="16459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2304288" y="468172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117"/>
                </a:solidFill>
              </a:rPr>
              <a:t>C1 (252)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794760" y="4700016"/>
            <a:ext cx="164592" cy="16459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3995928" y="468172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117"/>
                </a:solidFill>
              </a:rPr>
              <a:t>C2 (285)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86400" y="4700016"/>
            <a:ext cx="164592" cy="1645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5687568" y="468172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117"/>
                </a:solidFill>
              </a:rPr>
              <a:t>C3 (335)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178040" y="4700016"/>
            <a:ext cx="164592" cy="164592"/>
          </a:xfrm>
          <a:prstGeom prst="ellipse">
            <a:avLst/>
          </a:prstGeom>
          <a:solidFill>
            <a:srgbClr val="9C4EE6"/>
          </a:solidFill>
          <a:ln w="12700">
            <a:solidFill>
              <a:srgbClr val="9C4E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7379208" y="468172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117"/>
                </a:solidFill>
              </a:rPr>
              <a:t>C4 (659)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82880" y="137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703"/>
                </a:solidFill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117"/>
                </a:solidFill>
              </a:rPr>
              <a:t>Model V2 — Variational Autoencoder (VAE)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286000" cy="2560320"/>
          </a:xfrm>
          <a:prstGeom prst="rect">
            <a:avLst/>
          </a:prstGeom>
          <a:solidFill>
            <a:srgbClr val="FFF3E0"/>
          </a:solidFill>
          <a:ln w="254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ENCODER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182880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947672"/>
            <a:ext cx="182880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94360" y="1947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386584"/>
            <a:ext cx="182880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94360" y="2386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825496"/>
            <a:ext cx="182880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94360" y="2825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1645920"/>
            <a:ext cx="1371600" cy="10972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880360" y="16916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μ (mu)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σ² (var)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↓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z ~ N(μ,σ)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2788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Latent Dim = 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097280"/>
            <a:ext cx="2286000" cy="2560320"/>
          </a:xfrm>
          <a:prstGeom prst="rect">
            <a:avLst/>
          </a:prstGeom>
          <a:solidFill>
            <a:srgbClr val="E8F8F5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4805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DECODER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508760"/>
            <a:ext cx="182880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70916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947672"/>
            <a:ext cx="182880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09160" y="1947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386584"/>
            <a:ext cx="182880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709160" y="2386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825496"/>
            <a:ext cx="182880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709160" y="2825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2130552"/>
            <a:ext cx="228600" cy="274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4251960" y="2130552"/>
            <a:ext cx="228600" cy="274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949440" y="1097280"/>
            <a:ext cx="2011680" cy="2560320"/>
          </a:xfrm>
          <a:prstGeom prst="rect">
            <a:avLst/>
          </a:prstGeom>
          <a:solidFill>
            <a:srgbClr val="F3E5F5"/>
          </a:solidFill>
          <a:ln w="190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94944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DE5"/>
                </a:solidFill>
              </a:rPr>
              <a:t>Loss Fonksiyonu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1508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117"/>
                </a:solidFill>
              </a:rPr>
              <a:t>Huber Loss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117"/>
                </a:solidFill>
              </a:rPr>
              <a:t>(Rekonstrüksiyon)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117"/>
                </a:solidFill>
              </a:rPr>
              <a:t>+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117"/>
                </a:solidFill>
              </a:rPr>
              <a:t>β · KL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117"/>
                </a:solidFill>
              </a:rPr>
              <a:t>Divergence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117"/>
                </a:solidFill>
              </a:rPr>
              <a:t>(β-Annealing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117"/>
                </a:solidFill>
              </a:rPr>
              <a:t>warmup=50)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886200"/>
            <a:ext cx="196596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27432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Kümeleme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251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Gaussian Mixture Model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23160" y="3886200"/>
            <a:ext cx="196596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242316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BIC Ağırlık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23160" y="4251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0.4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3886200"/>
            <a:ext cx="196596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57200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Silhouette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4251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0.4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20840" y="3886200"/>
            <a:ext cx="196596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72084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Optimal 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20840" y="4251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8 Küme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82880" y="137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703"/>
                </a:solidFill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117"/>
                </a:solidFill>
              </a:rPr>
              <a:t>V2 — VAE Eğitim / Validasyon Kayıp Eğrisi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85800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005840"/>
            <a:ext cx="1554480" cy="3429000"/>
          </a:xfrm>
          <a:prstGeom prst="rect">
            <a:avLst/>
          </a:prstGeom>
          <a:solidFill>
            <a:srgbClr val="0F2C54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7360920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📌 Gözlemler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06640" y="1463040"/>
            <a:ext cx="1417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Best Val: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0.1400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30 epoch içinde
erken durma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Train &gt; Val:
β·KL etkisi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Generative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uzay öğrenimi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82880" y="137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703"/>
                </a:solidFill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117"/>
                </a:solidFill>
              </a:rPr>
              <a:t>V2 — VAE Latent Uzay Kümeleri (t-SNE &amp; UMAP)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05840"/>
            <a:ext cx="8869680" cy="35478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320040" y="4700016"/>
            <a:ext cx="128016" cy="12801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475488" y="466344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117"/>
                </a:solidFill>
              </a:rPr>
              <a:t>Oyun Kurucular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417320" y="4700016"/>
            <a:ext cx="128016" cy="12801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1572768" y="466344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117"/>
                </a:solidFill>
              </a:rPr>
              <a:t>Pasör Stoperler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514600" y="4700016"/>
            <a:ext cx="128016" cy="128016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2670048" y="466344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117"/>
                </a:solidFill>
              </a:rPr>
              <a:t>Dengeli Sav.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11880" y="4700016"/>
            <a:ext cx="128016" cy="12801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3767328" y="466344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117"/>
                </a:solidFill>
              </a:rPr>
              <a:t>Dinamik Kanatlar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709160" y="4700016"/>
            <a:ext cx="128016" cy="128016"/>
          </a:xfrm>
          <a:prstGeom prst="ellipse">
            <a:avLst/>
          </a:prstGeom>
          <a:solidFill>
            <a:srgbClr val="9C4EE6"/>
          </a:solidFill>
          <a:ln w="12700">
            <a:solidFill>
              <a:srgbClr val="9C4E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4864608" y="466344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117"/>
                </a:solidFill>
              </a:rPr>
              <a:t>İlerici Kur.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806440" y="4700016"/>
            <a:ext cx="128016" cy="128016"/>
          </a:xfrm>
          <a:prstGeom prst="ellipse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5961888" y="466344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117"/>
                </a:solidFill>
              </a:rPr>
              <a:t>Pivot Forvetler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903720" y="4700016"/>
            <a:ext cx="128016" cy="128016"/>
          </a:xfrm>
          <a:prstGeom prst="ellipse">
            <a:avLst/>
          </a:prstGeom>
          <a:solidFill>
            <a:srgbClr val="F15BB5"/>
          </a:solidFill>
          <a:ln w="12700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7059168" y="466344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117"/>
                </a:solidFill>
              </a:rPr>
              <a:t>Saf Bitiriciler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8001000" y="4700016"/>
            <a:ext cx="128016" cy="12801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/>
          <p:nvPr/>
        </p:nvSpPr>
        <p:spPr>
          <a:xfrm>
            <a:off x="8156448" y="466344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117"/>
                </a:solidFill>
              </a:rPr>
              <a:t>Yok Ediciler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50876" y="118872"/>
            <a:ext cx="219456" cy="219456"/>
          </a:xfrm>
          <a:prstGeom prst="rect">
            <a:avLst/>
          </a:prstGeom>
          <a:solidFill>
            <a:srgbClr val="0D4F6E">
              <a:alpha val="8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79476" y="118872"/>
            <a:ext cx="219456" cy="219456"/>
          </a:xfrm>
          <a:prstGeom prst="rect">
            <a:avLst/>
          </a:prstGeom>
          <a:solidFill>
            <a:srgbClr val="0D6E5F">
              <a:alpha val="9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08076" y="118872"/>
            <a:ext cx="219456" cy="219456"/>
          </a:xfrm>
          <a:prstGeom prst="rect">
            <a:avLst/>
          </a:prstGeom>
          <a:solidFill>
            <a:srgbClr val="0D6E3A">
              <a:alpha val="9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836676" y="118872"/>
            <a:ext cx="219456" cy="219456"/>
          </a:xfrm>
          <a:prstGeom prst="rect">
            <a:avLst/>
          </a:prstGeom>
          <a:solidFill>
            <a:srgbClr val="3A6E0D">
              <a:alpha val="8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065276" y="118872"/>
            <a:ext cx="219456" cy="219456"/>
          </a:xfrm>
          <a:prstGeom prst="rect">
            <a:avLst/>
          </a:prstGeom>
          <a:solidFill>
            <a:srgbClr val="6E5F0D">
              <a:alpha val="9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293876" y="118872"/>
            <a:ext cx="219456" cy="219456"/>
          </a:xfrm>
          <a:prstGeom prst="rect">
            <a:avLst/>
          </a:prstGeom>
          <a:solidFill>
            <a:srgbClr val="6E1A0D">
              <a:alpha val="7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522476" y="118872"/>
            <a:ext cx="219456" cy="219456"/>
          </a:xfrm>
          <a:prstGeom prst="rect">
            <a:avLst/>
          </a:prstGeom>
          <a:solidFill>
            <a:srgbClr val="6E0D3A">
              <a:alpha val="9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1751076" y="118872"/>
            <a:ext cx="219456" cy="219456"/>
          </a:xfrm>
          <a:prstGeom prst="rect">
            <a:avLst/>
          </a:prstGeom>
          <a:solidFill>
            <a:srgbClr val="3A0D6E">
              <a:alpha val="9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979676" y="118872"/>
            <a:ext cx="219456" cy="219456"/>
          </a:xfrm>
          <a:prstGeom prst="rect">
            <a:avLst/>
          </a:prstGeom>
          <a:solidFill>
            <a:srgbClr val="0D1A6E">
              <a:alpha val="8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208276" y="118872"/>
            <a:ext cx="219456" cy="219456"/>
          </a:xfrm>
          <a:prstGeom prst="rect">
            <a:avLst/>
          </a:prstGeom>
          <a:solidFill>
            <a:srgbClr val="0D5F6E">
              <a:alpha val="9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2436876" y="118872"/>
            <a:ext cx="219456" cy="219456"/>
          </a:xfrm>
          <a:prstGeom prst="rect">
            <a:avLst/>
          </a:prstGeom>
          <a:solidFill>
            <a:srgbClr val="0D4F6E">
              <a:alpha val="95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665476" y="118872"/>
            <a:ext cx="219456" cy="219456"/>
          </a:xfrm>
          <a:prstGeom prst="rect">
            <a:avLst/>
          </a:prstGeom>
          <a:solidFill>
            <a:srgbClr val="0D6E5F">
              <a:alpha val="8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50876" y="347472"/>
            <a:ext cx="219456" cy="219456"/>
          </a:xfrm>
          <a:prstGeom prst="rect">
            <a:avLst/>
          </a:prstGeom>
          <a:solidFill>
            <a:srgbClr val="0D6E5F">
              <a:alpha val="8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79476" y="347472"/>
            <a:ext cx="219456" cy="219456"/>
          </a:xfrm>
          <a:prstGeom prst="rect">
            <a:avLst/>
          </a:prstGeom>
          <a:solidFill>
            <a:srgbClr val="0D6E3A">
              <a:alpha val="8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08076" y="347472"/>
            <a:ext cx="219456" cy="219456"/>
          </a:xfrm>
          <a:prstGeom prst="rect">
            <a:avLst/>
          </a:prstGeom>
          <a:solidFill>
            <a:srgbClr val="3A6E0D">
              <a:alpha val="8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836676" y="347472"/>
            <a:ext cx="219456" cy="219456"/>
          </a:xfrm>
          <a:prstGeom prst="rect">
            <a:avLst/>
          </a:prstGeom>
          <a:solidFill>
            <a:srgbClr val="6E5F0D">
              <a:alpha val="9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1065276" y="347472"/>
            <a:ext cx="219456" cy="219456"/>
          </a:xfrm>
          <a:prstGeom prst="rect">
            <a:avLst/>
          </a:prstGeom>
          <a:solidFill>
            <a:srgbClr val="6E1A0D">
              <a:alpha val="9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1293876" y="347472"/>
            <a:ext cx="219456" cy="219456"/>
          </a:xfrm>
          <a:prstGeom prst="rect">
            <a:avLst/>
          </a:prstGeom>
          <a:solidFill>
            <a:srgbClr val="6E0D3A">
              <a:alpha val="8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1522476" y="347472"/>
            <a:ext cx="219456" cy="219456"/>
          </a:xfrm>
          <a:prstGeom prst="rect">
            <a:avLst/>
          </a:prstGeom>
          <a:solidFill>
            <a:srgbClr val="3A0D6E">
              <a:alpha val="7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1751076" y="347472"/>
            <a:ext cx="219456" cy="219456"/>
          </a:xfrm>
          <a:prstGeom prst="rect">
            <a:avLst/>
          </a:prstGeom>
          <a:solidFill>
            <a:srgbClr val="0D1A6E">
              <a:alpha val="9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1979676" y="347472"/>
            <a:ext cx="219456" cy="219456"/>
          </a:xfrm>
          <a:prstGeom prst="rect">
            <a:avLst/>
          </a:prstGeom>
          <a:solidFill>
            <a:srgbClr val="0D5F6E">
              <a:alpha val="8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2208276" y="347472"/>
            <a:ext cx="219456" cy="219456"/>
          </a:xfrm>
          <a:prstGeom prst="rect">
            <a:avLst/>
          </a:prstGeom>
          <a:solidFill>
            <a:srgbClr val="0D4F6E">
              <a:alpha val="9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2436876" y="347472"/>
            <a:ext cx="219456" cy="219456"/>
          </a:xfrm>
          <a:prstGeom prst="rect">
            <a:avLst/>
          </a:prstGeom>
          <a:solidFill>
            <a:srgbClr val="0D6E5F">
              <a:alpha val="7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2665476" y="347472"/>
            <a:ext cx="219456" cy="219456"/>
          </a:xfrm>
          <a:prstGeom prst="rect">
            <a:avLst/>
          </a:prstGeom>
          <a:solidFill>
            <a:srgbClr val="0D6E3A">
              <a:alpha val="7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150876" y="576072"/>
            <a:ext cx="219456" cy="219456"/>
          </a:xfrm>
          <a:prstGeom prst="rect">
            <a:avLst/>
          </a:prstGeom>
          <a:solidFill>
            <a:srgbClr val="0D6E3A">
              <a:alpha val="9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379476" y="576072"/>
            <a:ext cx="219456" cy="219456"/>
          </a:xfrm>
          <a:prstGeom prst="rect">
            <a:avLst/>
          </a:prstGeom>
          <a:solidFill>
            <a:srgbClr val="3A6E0D">
              <a:alpha val="89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08076" y="576072"/>
            <a:ext cx="219456" cy="219456"/>
          </a:xfrm>
          <a:prstGeom prst="rect">
            <a:avLst/>
          </a:prstGeom>
          <a:solidFill>
            <a:srgbClr val="6E5F0D">
              <a:alpha val="8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836676" y="576072"/>
            <a:ext cx="219456" cy="219456"/>
          </a:xfrm>
          <a:prstGeom prst="rect">
            <a:avLst/>
          </a:prstGeom>
          <a:solidFill>
            <a:srgbClr val="6E1A0D">
              <a:alpha val="8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1065276" y="576072"/>
            <a:ext cx="219456" cy="219456"/>
          </a:xfrm>
          <a:prstGeom prst="rect">
            <a:avLst/>
          </a:prstGeom>
          <a:solidFill>
            <a:srgbClr val="6E0D3A">
              <a:alpha val="7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1293876" y="576072"/>
            <a:ext cx="219456" cy="219456"/>
          </a:xfrm>
          <a:prstGeom prst="rect">
            <a:avLst/>
          </a:prstGeom>
          <a:solidFill>
            <a:srgbClr val="3A0D6E">
              <a:alpha val="8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1522476" y="576072"/>
            <a:ext cx="219456" cy="219456"/>
          </a:xfrm>
          <a:prstGeom prst="rect">
            <a:avLst/>
          </a:prstGeom>
          <a:solidFill>
            <a:srgbClr val="0D1A6E">
              <a:alpha val="9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1751076" y="576072"/>
            <a:ext cx="219456" cy="219456"/>
          </a:xfrm>
          <a:prstGeom prst="rect">
            <a:avLst/>
          </a:prstGeom>
          <a:solidFill>
            <a:srgbClr val="0D5F6E">
              <a:alpha val="8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1979676" y="576072"/>
            <a:ext cx="219456" cy="219456"/>
          </a:xfrm>
          <a:prstGeom prst="rect">
            <a:avLst/>
          </a:prstGeom>
          <a:solidFill>
            <a:srgbClr val="0D4F6E">
              <a:alpha val="7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2208276" y="576072"/>
            <a:ext cx="219456" cy="219456"/>
          </a:xfrm>
          <a:prstGeom prst="rect">
            <a:avLst/>
          </a:prstGeom>
          <a:solidFill>
            <a:srgbClr val="0D6E5F">
              <a:alpha val="9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2436876" y="576072"/>
            <a:ext cx="219456" cy="219456"/>
          </a:xfrm>
          <a:prstGeom prst="rect">
            <a:avLst/>
          </a:prstGeom>
          <a:solidFill>
            <a:srgbClr val="0D6E3A">
              <a:alpha val="9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2665476" y="576072"/>
            <a:ext cx="219456" cy="219456"/>
          </a:xfrm>
          <a:prstGeom prst="rect">
            <a:avLst/>
          </a:prstGeom>
          <a:solidFill>
            <a:srgbClr val="3A6E0D">
              <a:alpha val="8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150876" y="804672"/>
            <a:ext cx="219456" cy="219456"/>
          </a:xfrm>
          <a:prstGeom prst="rect">
            <a:avLst/>
          </a:prstGeom>
          <a:solidFill>
            <a:srgbClr val="3A6E0D">
              <a:alpha val="8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379476" y="804672"/>
            <a:ext cx="219456" cy="219456"/>
          </a:xfrm>
          <a:prstGeom prst="rect">
            <a:avLst/>
          </a:prstGeom>
          <a:solidFill>
            <a:srgbClr val="6E5F0D">
              <a:alpha val="8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608076" y="804672"/>
            <a:ext cx="219456" cy="219456"/>
          </a:xfrm>
          <a:prstGeom prst="rect">
            <a:avLst/>
          </a:prstGeom>
          <a:solidFill>
            <a:srgbClr val="6E1A0D">
              <a:alpha val="8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836676" y="804672"/>
            <a:ext cx="219456" cy="219456"/>
          </a:xfrm>
          <a:prstGeom prst="rect">
            <a:avLst/>
          </a:prstGeom>
          <a:solidFill>
            <a:srgbClr val="6E0D3A">
              <a:alpha val="8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1065276" y="804672"/>
            <a:ext cx="219456" cy="219456"/>
          </a:xfrm>
          <a:prstGeom prst="rect">
            <a:avLst/>
          </a:prstGeom>
          <a:solidFill>
            <a:srgbClr val="3A0D6E">
              <a:alpha val="9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1293876" y="804672"/>
            <a:ext cx="219456" cy="219456"/>
          </a:xfrm>
          <a:prstGeom prst="rect">
            <a:avLst/>
          </a:prstGeom>
          <a:solidFill>
            <a:srgbClr val="0D1A6E">
              <a:alpha val="99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1522476" y="804672"/>
            <a:ext cx="219456" cy="219456"/>
          </a:xfrm>
          <a:prstGeom prst="rect">
            <a:avLst/>
          </a:prstGeom>
          <a:solidFill>
            <a:srgbClr val="0D5F6E">
              <a:alpha val="7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1751076" y="804672"/>
            <a:ext cx="219456" cy="219456"/>
          </a:xfrm>
          <a:prstGeom prst="rect">
            <a:avLst/>
          </a:prstGeom>
          <a:solidFill>
            <a:srgbClr val="0D4F6E">
              <a:alpha val="8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1979676" y="804672"/>
            <a:ext cx="219456" cy="219456"/>
          </a:xfrm>
          <a:prstGeom prst="rect">
            <a:avLst/>
          </a:prstGeom>
          <a:solidFill>
            <a:srgbClr val="0D6E5F">
              <a:alpha val="7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2208276" y="804672"/>
            <a:ext cx="219456" cy="219456"/>
          </a:xfrm>
          <a:prstGeom prst="rect">
            <a:avLst/>
          </a:prstGeom>
          <a:solidFill>
            <a:srgbClr val="0D6E3A">
              <a:alpha val="9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2436876" y="804672"/>
            <a:ext cx="219456" cy="219456"/>
          </a:xfrm>
          <a:prstGeom prst="rect">
            <a:avLst/>
          </a:prstGeom>
          <a:solidFill>
            <a:srgbClr val="3A6E0D">
              <a:alpha val="8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2665476" y="804672"/>
            <a:ext cx="219456" cy="219456"/>
          </a:xfrm>
          <a:prstGeom prst="rect">
            <a:avLst/>
          </a:prstGeom>
          <a:solidFill>
            <a:srgbClr val="6E5F0D">
              <a:alpha val="8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150876" y="1033272"/>
            <a:ext cx="219456" cy="219456"/>
          </a:xfrm>
          <a:prstGeom prst="rect">
            <a:avLst/>
          </a:prstGeom>
          <a:solidFill>
            <a:srgbClr val="6E5F0D">
              <a:alpha val="99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379476" y="1033272"/>
            <a:ext cx="219456" cy="219456"/>
          </a:xfrm>
          <a:prstGeom prst="rect">
            <a:avLst/>
          </a:prstGeom>
          <a:solidFill>
            <a:srgbClr val="6E1A0D">
              <a:alpha val="8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608076" y="1033272"/>
            <a:ext cx="219456" cy="219456"/>
          </a:xfrm>
          <a:prstGeom prst="rect">
            <a:avLst/>
          </a:prstGeom>
          <a:solidFill>
            <a:srgbClr val="6E0D3A">
              <a:alpha val="8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836676" y="1033272"/>
            <a:ext cx="219456" cy="219456"/>
          </a:xfrm>
          <a:prstGeom prst="rect">
            <a:avLst/>
          </a:prstGeom>
          <a:solidFill>
            <a:srgbClr val="3A0D6E">
              <a:alpha val="7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1065276" y="1033272"/>
            <a:ext cx="219456" cy="219456"/>
          </a:xfrm>
          <a:prstGeom prst="rect">
            <a:avLst/>
          </a:prstGeom>
          <a:solidFill>
            <a:srgbClr val="0D1A6E">
              <a:alpha val="8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1293876" y="1033272"/>
            <a:ext cx="219456" cy="219456"/>
          </a:xfrm>
          <a:prstGeom prst="rect">
            <a:avLst/>
          </a:prstGeom>
          <a:solidFill>
            <a:srgbClr val="0D5F6E">
              <a:alpha val="8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1522476" y="1033272"/>
            <a:ext cx="219456" cy="219456"/>
          </a:xfrm>
          <a:prstGeom prst="rect">
            <a:avLst/>
          </a:prstGeom>
          <a:solidFill>
            <a:srgbClr val="0D4F6E">
              <a:alpha val="75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Shape 57"/>
          <p:cNvSpPr/>
          <p:nvPr/>
        </p:nvSpPr>
        <p:spPr>
          <a:xfrm>
            <a:off x="1751076" y="1033272"/>
            <a:ext cx="219456" cy="219456"/>
          </a:xfrm>
          <a:prstGeom prst="rect">
            <a:avLst/>
          </a:prstGeom>
          <a:solidFill>
            <a:srgbClr val="0D6E5F">
              <a:alpha val="7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Shape 58"/>
          <p:cNvSpPr/>
          <p:nvPr/>
        </p:nvSpPr>
        <p:spPr>
          <a:xfrm>
            <a:off x="1979676" y="1033272"/>
            <a:ext cx="219456" cy="219456"/>
          </a:xfrm>
          <a:prstGeom prst="rect">
            <a:avLst/>
          </a:prstGeom>
          <a:solidFill>
            <a:srgbClr val="0D6E3A">
              <a:alpha val="9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Shape 59"/>
          <p:cNvSpPr/>
          <p:nvPr/>
        </p:nvSpPr>
        <p:spPr>
          <a:xfrm>
            <a:off x="2208276" y="1033272"/>
            <a:ext cx="219456" cy="219456"/>
          </a:xfrm>
          <a:prstGeom prst="rect">
            <a:avLst/>
          </a:prstGeom>
          <a:solidFill>
            <a:srgbClr val="3A6E0D">
              <a:alpha val="7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2436876" y="1033272"/>
            <a:ext cx="219456" cy="219456"/>
          </a:xfrm>
          <a:prstGeom prst="rect">
            <a:avLst/>
          </a:prstGeom>
          <a:solidFill>
            <a:srgbClr val="6E5F0D">
              <a:alpha val="9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Shape 61"/>
          <p:cNvSpPr/>
          <p:nvPr/>
        </p:nvSpPr>
        <p:spPr>
          <a:xfrm>
            <a:off x="2665476" y="1033272"/>
            <a:ext cx="219456" cy="219456"/>
          </a:xfrm>
          <a:prstGeom prst="rect">
            <a:avLst/>
          </a:prstGeom>
          <a:solidFill>
            <a:srgbClr val="6E1A0D">
              <a:alpha val="75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Shape 62"/>
          <p:cNvSpPr/>
          <p:nvPr/>
        </p:nvSpPr>
        <p:spPr>
          <a:xfrm>
            <a:off x="150876" y="1261872"/>
            <a:ext cx="219456" cy="219456"/>
          </a:xfrm>
          <a:prstGeom prst="rect">
            <a:avLst/>
          </a:prstGeom>
          <a:solidFill>
            <a:srgbClr val="6E1A0D">
              <a:alpha val="95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Shape 63"/>
          <p:cNvSpPr/>
          <p:nvPr/>
        </p:nvSpPr>
        <p:spPr>
          <a:xfrm>
            <a:off x="379476" y="1261872"/>
            <a:ext cx="219456" cy="219456"/>
          </a:xfrm>
          <a:prstGeom prst="rect">
            <a:avLst/>
          </a:prstGeom>
          <a:solidFill>
            <a:srgbClr val="6E0D3A">
              <a:alpha val="7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608076" y="1261872"/>
            <a:ext cx="219456" cy="219456"/>
          </a:xfrm>
          <a:prstGeom prst="rect">
            <a:avLst/>
          </a:prstGeom>
          <a:solidFill>
            <a:srgbClr val="3A0D6E">
              <a:alpha val="9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Shape 65"/>
          <p:cNvSpPr/>
          <p:nvPr/>
        </p:nvSpPr>
        <p:spPr>
          <a:xfrm>
            <a:off x="836676" y="1261872"/>
            <a:ext cx="219456" cy="219456"/>
          </a:xfrm>
          <a:prstGeom prst="rect">
            <a:avLst/>
          </a:prstGeom>
          <a:solidFill>
            <a:srgbClr val="0D1A6E">
              <a:alpha val="9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Shape 66"/>
          <p:cNvSpPr/>
          <p:nvPr/>
        </p:nvSpPr>
        <p:spPr>
          <a:xfrm>
            <a:off x="1065276" y="1261872"/>
            <a:ext cx="219456" cy="219456"/>
          </a:xfrm>
          <a:prstGeom prst="rect">
            <a:avLst/>
          </a:prstGeom>
          <a:solidFill>
            <a:srgbClr val="0D5F6E">
              <a:alpha val="9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Shape 67"/>
          <p:cNvSpPr/>
          <p:nvPr/>
        </p:nvSpPr>
        <p:spPr>
          <a:xfrm>
            <a:off x="1293876" y="1261872"/>
            <a:ext cx="219456" cy="219456"/>
          </a:xfrm>
          <a:prstGeom prst="rect">
            <a:avLst/>
          </a:prstGeom>
          <a:solidFill>
            <a:srgbClr val="0D4F6E">
              <a:alpha val="79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70" name="Shape 68"/>
          <p:cNvSpPr/>
          <p:nvPr/>
        </p:nvSpPr>
        <p:spPr>
          <a:xfrm>
            <a:off x="1522476" y="1261872"/>
            <a:ext cx="219456" cy="219456"/>
          </a:xfrm>
          <a:prstGeom prst="rect">
            <a:avLst/>
          </a:prstGeom>
          <a:solidFill>
            <a:srgbClr val="0D6E5F">
              <a:alpha val="7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Shape 69"/>
          <p:cNvSpPr/>
          <p:nvPr/>
        </p:nvSpPr>
        <p:spPr>
          <a:xfrm>
            <a:off x="1751076" y="1261872"/>
            <a:ext cx="219456" cy="219456"/>
          </a:xfrm>
          <a:prstGeom prst="rect">
            <a:avLst/>
          </a:prstGeom>
          <a:solidFill>
            <a:srgbClr val="0D6E3A">
              <a:alpha val="7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Shape 70"/>
          <p:cNvSpPr/>
          <p:nvPr/>
        </p:nvSpPr>
        <p:spPr>
          <a:xfrm>
            <a:off x="1979676" y="1261872"/>
            <a:ext cx="219456" cy="219456"/>
          </a:xfrm>
          <a:prstGeom prst="rect">
            <a:avLst/>
          </a:prstGeom>
          <a:solidFill>
            <a:srgbClr val="3A6E0D">
              <a:alpha val="9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Shape 71"/>
          <p:cNvSpPr/>
          <p:nvPr/>
        </p:nvSpPr>
        <p:spPr>
          <a:xfrm>
            <a:off x="2208276" y="1261872"/>
            <a:ext cx="219456" cy="219456"/>
          </a:xfrm>
          <a:prstGeom prst="rect">
            <a:avLst/>
          </a:prstGeom>
          <a:solidFill>
            <a:srgbClr val="6E5F0D">
              <a:alpha val="89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Shape 72"/>
          <p:cNvSpPr/>
          <p:nvPr/>
        </p:nvSpPr>
        <p:spPr>
          <a:xfrm>
            <a:off x="2436876" y="1261872"/>
            <a:ext cx="219456" cy="219456"/>
          </a:xfrm>
          <a:prstGeom prst="rect">
            <a:avLst/>
          </a:prstGeom>
          <a:solidFill>
            <a:srgbClr val="6E1A0D">
              <a:alpha val="9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Shape 73"/>
          <p:cNvSpPr/>
          <p:nvPr/>
        </p:nvSpPr>
        <p:spPr>
          <a:xfrm>
            <a:off x="2665476" y="1261872"/>
            <a:ext cx="219456" cy="219456"/>
          </a:xfrm>
          <a:prstGeom prst="rect">
            <a:avLst/>
          </a:prstGeom>
          <a:solidFill>
            <a:srgbClr val="6E0D3A">
              <a:alpha val="89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Shape 74"/>
          <p:cNvSpPr/>
          <p:nvPr/>
        </p:nvSpPr>
        <p:spPr>
          <a:xfrm>
            <a:off x="150876" y="1490472"/>
            <a:ext cx="219456" cy="219456"/>
          </a:xfrm>
          <a:prstGeom prst="rect">
            <a:avLst/>
          </a:prstGeom>
          <a:solidFill>
            <a:srgbClr val="6E0D3A">
              <a:alpha val="7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Shape 75"/>
          <p:cNvSpPr/>
          <p:nvPr/>
        </p:nvSpPr>
        <p:spPr>
          <a:xfrm>
            <a:off x="379476" y="1490472"/>
            <a:ext cx="219456" cy="219456"/>
          </a:xfrm>
          <a:prstGeom prst="rect">
            <a:avLst/>
          </a:prstGeom>
          <a:solidFill>
            <a:srgbClr val="3A0D6E">
              <a:alpha val="9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8" name="Shape 76"/>
          <p:cNvSpPr/>
          <p:nvPr/>
        </p:nvSpPr>
        <p:spPr>
          <a:xfrm>
            <a:off x="608076" y="1490472"/>
            <a:ext cx="219456" cy="219456"/>
          </a:xfrm>
          <a:prstGeom prst="rect">
            <a:avLst/>
          </a:prstGeom>
          <a:solidFill>
            <a:srgbClr val="0D1A6E">
              <a:alpha val="8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Shape 77"/>
          <p:cNvSpPr/>
          <p:nvPr/>
        </p:nvSpPr>
        <p:spPr>
          <a:xfrm>
            <a:off x="836676" y="1490472"/>
            <a:ext cx="219456" cy="219456"/>
          </a:xfrm>
          <a:prstGeom prst="rect">
            <a:avLst/>
          </a:prstGeom>
          <a:solidFill>
            <a:srgbClr val="0D5F6E">
              <a:alpha val="7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Shape 78"/>
          <p:cNvSpPr/>
          <p:nvPr/>
        </p:nvSpPr>
        <p:spPr>
          <a:xfrm>
            <a:off x="1065276" y="1490472"/>
            <a:ext cx="219456" cy="219456"/>
          </a:xfrm>
          <a:prstGeom prst="rect">
            <a:avLst/>
          </a:prstGeom>
          <a:solidFill>
            <a:srgbClr val="0D4F6E">
              <a:alpha val="75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1" name="Shape 79"/>
          <p:cNvSpPr/>
          <p:nvPr/>
        </p:nvSpPr>
        <p:spPr>
          <a:xfrm>
            <a:off x="1284732" y="1490472"/>
            <a:ext cx="219456" cy="219456"/>
          </a:xfrm>
          <a:prstGeom prst="rect">
            <a:avLst/>
          </a:prstGeom>
          <a:solidFill>
            <a:srgbClr val="0D6E5F">
              <a:alpha val="9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Shape 80"/>
          <p:cNvSpPr/>
          <p:nvPr/>
        </p:nvSpPr>
        <p:spPr>
          <a:xfrm>
            <a:off x="1522476" y="1490472"/>
            <a:ext cx="219456" cy="219456"/>
          </a:xfrm>
          <a:prstGeom prst="rect">
            <a:avLst/>
          </a:prstGeom>
          <a:solidFill>
            <a:srgbClr val="0D6E3A">
              <a:alpha val="9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Shape 81"/>
          <p:cNvSpPr/>
          <p:nvPr/>
        </p:nvSpPr>
        <p:spPr>
          <a:xfrm>
            <a:off x="1751076" y="1490472"/>
            <a:ext cx="219456" cy="219456"/>
          </a:xfrm>
          <a:prstGeom prst="rect">
            <a:avLst/>
          </a:prstGeom>
          <a:solidFill>
            <a:srgbClr val="3A6E0D">
              <a:alpha val="9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Shape 82"/>
          <p:cNvSpPr/>
          <p:nvPr/>
        </p:nvSpPr>
        <p:spPr>
          <a:xfrm>
            <a:off x="1979676" y="1490472"/>
            <a:ext cx="219456" cy="219456"/>
          </a:xfrm>
          <a:prstGeom prst="rect">
            <a:avLst/>
          </a:prstGeom>
          <a:solidFill>
            <a:srgbClr val="6E5F0D">
              <a:alpha val="7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Shape 83"/>
          <p:cNvSpPr/>
          <p:nvPr/>
        </p:nvSpPr>
        <p:spPr>
          <a:xfrm>
            <a:off x="2208276" y="1490472"/>
            <a:ext cx="219456" cy="219456"/>
          </a:xfrm>
          <a:prstGeom prst="rect">
            <a:avLst/>
          </a:prstGeom>
          <a:solidFill>
            <a:srgbClr val="6E1A0D">
              <a:alpha val="7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6" name="Shape 84"/>
          <p:cNvSpPr/>
          <p:nvPr/>
        </p:nvSpPr>
        <p:spPr>
          <a:xfrm>
            <a:off x="2436876" y="1490472"/>
            <a:ext cx="219456" cy="219456"/>
          </a:xfrm>
          <a:prstGeom prst="rect">
            <a:avLst/>
          </a:prstGeom>
          <a:solidFill>
            <a:srgbClr val="6E0D3A"/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7" name="Shape 85"/>
          <p:cNvSpPr/>
          <p:nvPr/>
        </p:nvSpPr>
        <p:spPr>
          <a:xfrm>
            <a:off x="2665476" y="1490472"/>
            <a:ext cx="219456" cy="219456"/>
          </a:xfrm>
          <a:prstGeom prst="rect">
            <a:avLst/>
          </a:prstGeom>
          <a:solidFill>
            <a:srgbClr val="3A0D6E">
              <a:alpha val="9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8" name="Shape 86"/>
          <p:cNvSpPr/>
          <p:nvPr/>
        </p:nvSpPr>
        <p:spPr>
          <a:xfrm>
            <a:off x="150876" y="1719072"/>
            <a:ext cx="219456" cy="219456"/>
          </a:xfrm>
          <a:prstGeom prst="rect">
            <a:avLst/>
          </a:prstGeom>
          <a:solidFill>
            <a:srgbClr val="3A0D6E">
              <a:alpha val="9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9" name="Shape 87"/>
          <p:cNvSpPr/>
          <p:nvPr/>
        </p:nvSpPr>
        <p:spPr>
          <a:xfrm>
            <a:off x="379476" y="1719072"/>
            <a:ext cx="219456" cy="219456"/>
          </a:xfrm>
          <a:prstGeom prst="rect">
            <a:avLst/>
          </a:prstGeom>
          <a:solidFill>
            <a:srgbClr val="0D1A6E">
              <a:alpha val="8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0" name="Shape 88"/>
          <p:cNvSpPr/>
          <p:nvPr/>
        </p:nvSpPr>
        <p:spPr>
          <a:xfrm>
            <a:off x="608076" y="1719072"/>
            <a:ext cx="219456" cy="219456"/>
          </a:xfrm>
          <a:prstGeom prst="rect">
            <a:avLst/>
          </a:prstGeom>
          <a:solidFill>
            <a:srgbClr val="0D5F6E">
              <a:alpha val="7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1" name="Shape 89"/>
          <p:cNvSpPr/>
          <p:nvPr/>
        </p:nvSpPr>
        <p:spPr>
          <a:xfrm>
            <a:off x="836676" y="1719072"/>
            <a:ext cx="219456" cy="219456"/>
          </a:xfrm>
          <a:prstGeom prst="rect">
            <a:avLst/>
          </a:prstGeom>
          <a:solidFill>
            <a:srgbClr val="0D4F6E">
              <a:alpha val="7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2" name="Shape 90"/>
          <p:cNvSpPr/>
          <p:nvPr/>
        </p:nvSpPr>
        <p:spPr>
          <a:xfrm>
            <a:off x="1065276" y="1719072"/>
            <a:ext cx="219456" cy="219456"/>
          </a:xfrm>
          <a:prstGeom prst="rect">
            <a:avLst/>
          </a:prstGeom>
          <a:solidFill>
            <a:srgbClr val="0D6E5F">
              <a:alpha val="9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3" name="Shape 91"/>
          <p:cNvSpPr/>
          <p:nvPr/>
        </p:nvSpPr>
        <p:spPr>
          <a:xfrm>
            <a:off x="1293876" y="1719072"/>
            <a:ext cx="219456" cy="219456"/>
          </a:xfrm>
          <a:prstGeom prst="rect">
            <a:avLst/>
          </a:prstGeom>
          <a:solidFill>
            <a:srgbClr val="0D6E3A">
              <a:alpha val="7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4" name="Shape 92"/>
          <p:cNvSpPr/>
          <p:nvPr/>
        </p:nvSpPr>
        <p:spPr>
          <a:xfrm>
            <a:off x="1522476" y="1719072"/>
            <a:ext cx="219456" cy="219456"/>
          </a:xfrm>
          <a:prstGeom prst="rect">
            <a:avLst/>
          </a:prstGeom>
          <a:solidFill>
            <a:srgbClr val="3A6E0D">
              <a:alpha val="9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5" name="Shape 93"/>
          <p:cNvSpPr/>
          <p:nvPr/>
        </p:nvSpPr>
        <p:spPr>
          <a:xfrm>
            <a:off x="1751076" y="1719072"/>
            <a:ext cx="219456" cy="219456"/>
          </a:xfrm>
          <a:prstGeom prst="rect">
            <a:avLst/>
          </a:prstGeom>
          <a:solidFill>
            <a:srgbClr val="6E5F0D">
              <a:alpha val="99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6" name="Shape 94"/>
          <p:cNvSpPr/>
          <p:nvPr/>
        </p:nvSpPr>
        <p:spPr>
          <a:xfrm>
            <a:off x="1979676" y="1719072"/>
            <a:ext cx="219456" cy="219456"/>
          </a:xfrm>
          <a:prstGeom prst="rect">
            <a:avLst/>
          </a:prstGeom>
          <a:solidFill>
            <a:srgbClr val="6E1A0D">
              <a:alpha val="7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7" name="Shape 95"/>
          <p:cNvSpPr/>
          <p:nvPr/>
        </p:nvSpPr>
        <p:spPr>
          <a:xfrm>
            <a:off x="2208276" y="1719072"/>
            <a:ext cx="219456" cy="219456"/>
          </a:xfrm>
          <a:prstGeom prst="rect">
            <a:avLst/>
          </a:prstGeom>
          <a:solidFill>
            <a:srgbClr val="6E0D3A">
              <a:alpha val="8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8" name="Shape 96"/>
          <p:cNvSpPr/>
          <p:nvPr/>
        </p:nvSpPr>
        <p:spPr>
          <a:xfrm>
            <a:off x="2436876" y="1719072"/>
            <a:ext cx="219456" cy="219456"/>
          </a:xfrm>
          <a:prstGeom prst="rect">
            <a:avLst/>
          </a:prstGeom>
          <a:solidFill>
            <a:srgbClr val="3A0D6E">
              <a:alpha val="7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9" name="Shape 97"/>
          <p:cNvSpPr/>
          <p:nvPr/>
        </p:nvSpPr>
        <p:spPr>
          <a:xfrm>
            <a:off x="2665476" y="1719072"/>
            <a:ext cx="219456" cy="219456"/>
          </a:xfrm>
          <a:prstGeom prst="rect">
            <a:avLst/>
          </a:prstGeom>
          <a:solidFill>
            <a:srgbClr val="0D1A6E">
              <a:alpha val="85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0" name="Shape 98"/>
          <p:cNvSpPr/>
          <p:nvPr/>
        </p:nvSpPr>
        <p:spPr>
          <a:xfrm>
            <a:off x="150876" y="1947672"/>
            <a:ext cx="219456" cy="219456"/>
          </a:xfrm>
          <a:prstGeom prst="rect">
            <a:avLst/>
          </a:prstGeom>
          <a:solidFill>
            <a:srgbClr val="0D1A6E">
              <a:alpha val="89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1" name="Shape 99"/>
          <p:cNvSpPr/>
          <p:nvPr/>
        </p:nvSpPr>
        <p:spPr>
          <a:xfrm>
            <a:off x="379476" y="1947672"/>
            <a:ext cx="219456" cy="219456"/>
          </a:xfrm>
          <a:prstGeom prst="rect">
            <a:avLst/>
          </a:prstGeom>
          <a:solidFill>
            <a:srgbClr val="0D5F6E">
              <a:alpha val="85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2" name="Shape 100"/>
          <p:cNvSpPr/>
          <p:nvPr/>
        </p:nvSpPr>
        <p:spPr>
          <a:xfrm>
            <a:off x="608076" y="1947672"/>
            <a:ext cx="219456" cy="219456"/>
          </a:xfrm>
          <a:prstGeom prst="rect">
            <a:avLst/>
          </a:prstGeom>
          <a:solidFill>
            <a:srgbClr val="0D4F6E">
              <a:alpha val="7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3" name="Shape 101"/>
          <p:cNvSpPr/>
          <p:nvPr/>
        </p:nvSpPr>
        <p:spPr>
          <a:xfrm>
            <a:off x="836676" y="1947672"/>
            <a:ext cx="219456" cy="219456"/>
          </a:xfrm>
          <a:prstGeom prst="rect">
            <a:avLst/>
          </a:prstGeom>
          <a:solidFill>
            <a:srgbClr val="0D6E5F">
              <a:alpha val="9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4" name="Shape 102"/>
          <p:cNvSpPr/>
          <p:nvPr/>
        </p:nvSpPr>
        <p:spPr>
          <a:xfrm>
            <a:off x="1065276" y="1947672"/>
            <a:ext cx="219456" cy="219456"/>
          </a:xfrm>
          <a:prstGeom prst="rect">
            <a:avLst/>
          </a:prstGeom>
          <a:solidFill>
            <a:srgbClr val="0D6E3A"/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5" name="Shape 103"/>
          <p:cNvSpPr/>
          <p:nvPr/>
        </p:nvSpPr>
        <p:spPr>
          <a:xfrm>
            <a:off x="1293876" y="1947672"/>
            <a:ext cx="219456" cy="219456"/>
          </a:xfrm>
          <a:prstGeom prst="rect">
            <a:avLst/>
          </a:prstGeom>
          <a:solidFill>
            <a:srgbClr val="3A6E0D">
              <a:alpha val="8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6" name="Shape 104"/>
          <p:cNvSpPr/>
          <p:nvPr/>
        </p:nvSpPr>
        <p:spPr>
          <a:xfrm>
            <a:off x="1522476" y="1947672"/>
            <a:ext cx="219456" cy="219456"/>
          </a:xfrm>
          <a:prstGeom prst="rect">
            <a:avLst/>
          </a:prstGeom>
          <a:solidFill>
            <a:srgbClr val="6E5F0D">
              <a:alpha val="7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7" name="Shape 105"/>
          <p:cNvSpPr/>
          <p:nvPr/>
        </p:nvSpPr>
        <p:spPr>
          <a:xfrm>
            <a:off x="1751076" y="1947672"/>
            <a:ext cx="219456" cy="219456"/>
          </a:xfrm>
          <a:prstGeom prst="rect">
            <a:avLst/>
          </a:prstGeom>
          <a:solidFill>
            <a:srgbClr val="6E1A0D">
              <a:alpha val="8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8" name="Shape 106"/>
          <p:cNvSpPr/>
          <p:nvPr/>
        </p:nvSpPr>
        <p:spPr>
          <a:xfrm>
            <a:off x="1979676" y="1947672"/>
            <a:ext cx="219456" cy="219456"/>
          </a:xfrm>
          <a:prstGeom prst="rect">
            <a:avLst/>
          </a:prstGeom>
          <a:solidFill>
            <a:srgbClr val="6E0D3A">
              <a:alpha val="8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9" name="Shape 107"/>
          <p:cNvSpPr/>
          <p:nvPr/>
        </p:nvSpPr>
        <p:spPr>
          <a:xfrm>
            <a:off x="2208276" y="1947672"/>
            <a:ext cx="219456" cy="219456"/>
          </a:xfrm>
          <a:prstGeom prst="rect">
            <a:avLst/>
          </a:prstGeom>
          <a:solidFill>
            <a:srgbClr val="3A0D6E">
              <a:alpha val="7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0" name="Shape 108"/>
          <p:cNvSpPr/>
          <p:nvPr/>
        </p:nvSpPr>
        <p:spPr>
          <a:xfrm>
            <a:off x="2436876" y="1947672"/>
            <a:ext cx="219456" cy="219456"/>
          </a:xfrm>
          <a:prstGeom prst="rect">
            <a:avLst/>
          </a:prstGeom>
          <a:solidFill>
            <a:srgbClr val="0D1A6E">
              <a:alpha val="8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1" name="Shape 109"/>
          <p:cNvSpPr/>
          <p:nvPr/>
        </p:nvSpPr>
        <p:spPr>
          <a:xfrm>
            <a:off x="2665476" y="1947672"/>
            <a:ext cx="219456" cy="219456"/>
          </a:xfrm>
          <a:prstGeom prst="rect">
            <a:avLst/>
          </a:prstGeom>
          <a:solidFill>
            <a:srgbClr val="0D5F6E">
              <a:alpha val="9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2" name="Shape 110"/>
          <p:cNvSpPr/>
          <p:nvPr/>
        </p:nvSpPr>
        <p:spPr>
          <a:xfrm>
            <a:off x="150876" y="2176272"/>
            <a:ext cx="219456" cy="219456"/>
          </a:xfrm>
          <a:prstGeom prst="rect">
            <a:avLst/>
          </a:prstGeom>
          <a:solidFill>
            <a:srgbClr val="0D5F6E">
              <a:alpha val="8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3" name="Shape 111"/>
          <p:cNvSpPr/>
          <p:nvPr/>
        </p:nvSpPr>
        <p:spPr>
          <a:xfrm>
            <a:off x="379476" y="2176272"/>
            <a:ext cx="219456" cy="219456"/>
          </a:xfrm>
          <a:prstGeom prst="rect">
            <a:avLst/>
          </a:prstGeom>
          <a:solidFill>
            <a:srgbClr val="0D4F6E">
              <a:alpha val="9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4" name="Shape 112"/>
          <p:cNvSpPr/>
          <p:nvPr/>
        </p:nvSpPr>
        <p:spPr>
          <a:xfrm>
            <a:off x="608076" y="2176272"/>
            <a:ext cx="219456" cy="219456"/>
          </a:xfrm>
          <a:prstGeom prst="rect">
            <a:avLst/>
          </a:prstGeom>
          <a:solidFill>
            <a:srgbClr val="0D6E5F">
              <a:alpha val="8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5" name="Shape 113"/>
          <p:cNvSpPr/>
          <p:nvPr/>
        </p:nvSpPr>
        <p:spPr>
          <a:xfrm>
            <a:off x="836676" y="2176272"/>
            <a:ext cx="219456" cy="219456"/>
          </a:xfrm>
          <a:prstGeom prst="rect">
            <a:avLst/>
          </a:prstGeom>
          <a:solidFill>
            <a:srgbClr val="0D6E3A">
              <a:alpha val="7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6" name="Shape 114"/>
          <p:cNvSpPr/>
          <p:nvPr/>
        </p:nvSpPr>
        <p:spPr>
          <a:xfrm>
            <a:off x="1065276" y="2176272"/>
            <a:ext cx="219456" cy="219456"/>
          </a:xfrm>
          <a:prstGeom prst="rect">
            <a:avLst/>
          </a:prstGeom>
          <a:solidFill>
            <a:srgbClr val="3A6E0D">
              <a:alpha val="9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7" name="Shape 115"/>
          <p:cNvSpPr/>
          <p:nvPr/>
        </p:nvSpPr>
        <p:spPr>
          <a:xfrm>
            <a:off x="1293876" y="2176272"/>
            <a:ext cx="219456" cy="219456"/>
          </a:xfrm>
          <a:prstGeom prst="rect">
            <a:avLst/>
          </a:prstGeom>
          <a:solidFill>
            <a:srgbClr val="6E5F0D">
              <a:alpha val="7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8" name="Shape 116"/>
          <p:cNvSpPr/>
          <p:nvPr/>
        </p:nvSpPr>
        <p:spPr>
          <a:xfrm>
            <a:off x="1522476" y="2176272"/>
            <a:ext cx="219456" cy="219456"/>
          </a:xfrm>
          <a:prstGeom prst="rect">
            <a:avLst/>
          </a:prstGeom>
          <a:solidFill>
            <a:srgbClr val="6E1A0D">
              <a:alpha val="9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9" name="Shape 117"/>
          <p:cNvSpPr/>
          <p:nvPr/>
        </p:nvSpPr>
        <p:spPr>
          <a:xfrm>
            <a:off x="1751076" y="2176272"/>
            <a:ext cx="219456" cy="219456"/>
          </a:xfrm>
          <a:prstGeom prst="rect">
            <a:avLst/>
          </a:prstGeom>
          <a:solidFill>
            <a:srgbClr val="6E0D3A">
              <a:alpha val="7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0" name="Shape 118"/>
          <p:cNvSpPr/>
          <p:nvPr/>
        </p:nvSpPr>
        <p:spPr>
          <a:xfrm>
            <a:off x="1979676" y="2176272"/>
            <a:ext cx="219456" cy="219456"/>
          </a:xfrm>
          <a:prstGeom prst="rect">
            <a:avLst/>
          </a:prstGeom>
          <a:solidFill>
            <a:srgbClr val="3A0D6E">
              <a:alpha val="8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1" name="Shape 119"/>
          <p:cNvSpPr/>
          <p:nvPr/>
        </p:nvSpPr>
        <p:spPr>
          <a:xfrm>
            <a:off x="2208276" y="2176272"/>
            <a:ext cx="219456" cy="219456"/>
          </a:xfrm>
          <a:prstGeom prst="rect">
            <a:avLst/>
          </a:prstGeom>
          <a:solidFill>
            <a:srgbClr val="0D1A6E">
              <a:alpha val="7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2" name="Shape 120"/>
          <p:cNvSpPr/>
          <p:nvPr/>
        </p:nvSpPr>
        <p:spPr>
          <a:xfrm>
            <a:off x="2436876" y="2176272"/>
            <a:ext cx="219456" cy="219456"/>
          </a:xfrm>
          <a:prstGeom prst="rect">
            <a:avLst/>
          </a:prstGeom>
          <a:solidFill>
            <a:srgbClr val="0D5F6E">
              <a:alpha val="8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3" name="Shape 121"/>
          <p:cNvSpPr/>
          <p:nvPr/>
        </p:nvSpPr>
        <p:spPr>
          <a:xfrm>
            <a:off x="2665476" y="2176272"/>
            <a:ext cx="219456" cy="219456"/>
          </a:xfrm>
          <a:prstGeom prst="rect">
            <a:avLst/>
          </a:prstGeom>
          <a:solidFill>
            <a:srgbClr val="0D4F6E">
              <a:alpha val="9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4" name="Shape 122"/>
          <p:cNvSpPr/>
          <p:nvPr/>
        </p:nvSpPr>
        <p:spPr>
          <a:xfrm>
            <a:off x="150876" y="2404872"/>
            <a:ext cx="219456" cy="219456"/>
          </a:xfrm>
          <a:prstGeom prst="rect">
            <a:avLst/>
          </a:prstGeom>
          <a:solidFill>
            <a:srgbClr val="0D4F6E">
              <a:alpha val="9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5" name="Shape 123"/>
          <p:cNvSpPr/>
          <p:nvPr/>
        </p:nvSpPr>
        <p:spPr>
          <a:xfrm>
            <a:off x="379476" y="2404872"/>
            <a:ext cx="219456" cy="219456"/>
          </a:xfrm>
          <a:prstGeom prst="rect">
            <a:avLst/>
          </a:prstGeom>
          <a:solidFill>
            <a:srgbClr val="0D6E5F">
              <a:alpha val="7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6" name="Shape 124"/>
          <p:cNvSpPr/>
          <p:nvPr/>
        </p:nvSpPr>
        <p:spPr>
          <a:xfrm>
            <a:off x="608076" y="2404872"/>
            <a:ext cx="219456" cy="219456"/>
          </a:xfrm>
          <a:prstGeom prst="rect">
            <a:avLst/>
          </a:prstGeom>
          <a:solidFill>
            <a:srgbClr val="0D6E3A">
              <a:alpha val="95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7" name="Shape 125"/>
          <p:cNvSpPr/>
          <p:nvPr/>
        </p:nvSpPr>
        <p:spPr>
          <a:xfrm>
            <a:off x="836676" y="2404872"/>
            <a:ext cx="219456" cy="219456"/>
          </a:xfrm>
          <a:prstGeom prst="rect">
            <a:avLst/>
          </a:prstGeom>
          <a:solidFill>
            <a:srgbClr val="3A6E0D">
              <a:alpha val="8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8" name="Shape 126"/>
          <p:cNvSpPr/>
          <p:nvPr/>
        </p:nvSpPr>
        <p:spPr>
          <a:xfrm>
            <a:off x="1065276" y="2404872"/>
            <a:ext cx="219456" cy="219456"/>
          </a:xfrm>
          <a:prstGeom prst="rect">
            <a:avLst/>
          </a:prstGeom>
          <a:solidFill>
            <a:srgbClr val="6E5F0D">
              <a:alpha val="75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9" name="Shape 127"/>
          <p:cNvSpPr/>
          <p:nvPr/>
        </p:nvSpPr>
        <p:spPr>
          <a:xfrm>
            <a:off x="1293876" y="2404872"/>
            <a:ext cx="219456" cy="219456"/>
          </a:xfrm>
          <a:prstGeom prst="rect">
            <a:avLst/>
          </a:prstGeom>
          <a:solidFill>
            <a:srgbClr val="6E1A0D">
              <a:alpha val="8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0" name="Shape 128"/>
          <p:cNvSpPr/>
          <p:nvPr/>
        </p:nvSpPr>
        <p:spPr>
          <a:xfrm>
            <a:off x="1522476" y="2404872"/>
            <a:ext cx="219456" cy="219456"/>
          </a:xfrm>
          <a:prstGeom prst="rect">
            <a:avLst/>
          </a:prstGeom>
          <a:solidFill>
            <a:srgbClr val="6E0D3A">
              <a:alpha val="7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1" name="Shape 129"/>
          <p:cNvSpPr/>
          <p:nvPr/>
        </p:nvSpPr>
        <p:spPr>
          <a:xfrm>
            <a:off x="1751076" y="2404872"/>
            <a:ext cx="219456" cy="219456"/>
          </a:xfrm>
          <a:prstGeom prst="rect">
            <a:avLst/>
          </a:prstGeom>
          <a:solidFill>
            <a:srgbClr val="3A0D6E">
              <a:alpha val="96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2" name="Shape 130"/>
          <p:cNvSpPr/>
          <p:nvPr/>
        </p:nvSpPr>
        <p:spPr>
          <a:xfrm>
            <a:off x="1979676" y="2404872"/>
            <a:ext cx="219456" cy="219456"/>
          </a:xfrm>
          <a:prstGeom prst="rect">
            <a:avLst/>
          </a:prstGeom>
          <a:solidFill>
            <a:srgbClr val="0D1A6E">
              <a:alpha val="93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3" name="Shape 131"/>
          <p:cNvSpPr/>
          <p:nvPr/>
        </p:nvSpPr>
        <p:spPr>
          <a:xfrm>
            <a:off x="2208276" y="2404872"/>
            <a:ext cx="219456" cy="219456"/>
          </a:xfrm>
          <a:prstGeom prst="rect">
            <a:avLst/>
          </a:prstGeom>
          <a:solidFill>
            <a:srgbClr val="0D5F6E">
              <a:alpha val="9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4" name="Shape 132"/>
          <p:cNvSpPr/>
          <p:nvPr/>
        </p:nvSpPr>
        <p:spPr>
          <a:xfrm>
            <a:off x="2436876" y="2404872"/>
            <a:ext cx="219456" cy="219456"/>
          </a:xfrm>
          <a:prstGeom prst="rect">
            <a:avLst/>
          </a:prstGeom>
          <a:solidFill>
            <a:srgbClr val="0D4F6E">
              <a:alpha val="7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5" name="Shape 133"/>
          <p:cNvSpPr/>
          <p:nvPr/>
        </p:nvSpPr>
        <p:spPr>
          <a:xfrm>
            <a:off x="2665476" y="2404872"/>
            <a:ext cx="219456" cy="219456"/>
          </a:xfrm>
          <a:prstGeom prst="rect">
            <a:avLst/>
          </a:prstGeom>
          <a:solidFill>
            <a:srgbClr val="0D6E5F">
              <a:alpha val="9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6" name="Shape 134"/>
          <p:cNvSpPr/>
          <p:nvPr/>
        </p:nvSpPr>
        <p:spPr>
          <a:xfrm>
            <a:off x="150876" y="2633472"/>
            <a:ext cx="219456" cy="219456"/>
          </a:xfrm>
          <a:prstGeom prst="rect">
            <a:avLst/>
          </a:prstGeom>
          <a:solidFill>
            <a:srgbClr val="0D6E5F">
              <a:alpha val="7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7" name="Shape 135"/>
          <p:cNvSpPr/>
          <p:nvPr/>
        </p:nvSpPr>
        <p:spPr>
          <a:xfrm>
            <a:off x="379476" y="2633472"/>
            <a:ext cx="219456" cy="219456"/>
          </a:xfrm>
          <a:prstGeom prst="rect">
            <a:avLst/>
          </a:prstGeom>
          <a:solidFill>
            <a:srgbClr val="0D6E3A">
              <a:alpha val="71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8" name="Shape 136"/>
          <p:cNvSpPr/>
          <p:nvPr/>
        </p:nvSpPr>
        <p:spPr>
          <a:xfrm>
            <a:off x="608076" y="2633472"/>
            <a:ext cx="219456" cy="219456"/>
          </a:xfrm>
          <a:prstGeom prst="rect">
            <a:avLst/>
          </a:prstGeom>
          <a:solidFill>
            <a:srgbClr val="3A6E0D">
              <a:alpha val="7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9" name="Shape 137"/>
          <p:cNvSpPr/>
          <p:nvPr/>
        </p:nvSpPr>
        <p:spPr>
          <a:xfrm>
            <a:off x="836676" y="2633472"/>
            <a:ext cx="219456" cy="219456"/>
          </a:xfrm>
          <a:prstGeom prst="rect">
            <a:avLst/>
          </a:prstGeom>
          <a:solidFill>
            <a:srgbClr val="6E5F0D">
              <a:alpha val="98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0" name="Shape 138"/>
          <p:cNvSpPr/>
          <p:nvPr/>
        </p:nvSpPr>
        <p:spPr>
          <a:xfrm>
            <a:off x="1065276" y="2633472"/>
            <a:ext cx="219456" cy="219456"/>
          </a:xfrm>
          <a:prstGeom prst="rect">
            <a:avLst/>
          </a:prstGeom>
          <a:solidFill>
            <a:srgbClr val="6E1A0D"/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1" name="Shape 139"/>
          <p:cNvSpPr/>
          <p:nvPr/>
        </p:nvSpPr>
        <p:spPr>
          <a:xfrm>
            <a:off x="1293876" y="2633472"/>
            <a:ext cx="219456" cy="219456"/>
          </a:xfrm>
          <a:prstGeom prst="rect">
            <a:avLst/>
          </a:prstGeom>
          <a:solidFill>
            <a:srgbClr val="6E0D3A">
              <a:alpha val="99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2" name="Shape 140"/>
          <p:cNvSpPr/>
          <p:nvPr/>
        </p:nvSpPr>
        <p:spPr>
          <a:xfrm>
            <a:off x="1522476" y="2633472"/>
            <a:ext cx="219456" cy="219456"/>
          </a:xfrm>
          <a:prstGeom prst="rect">
            <a:avLst/>
          </a:prstGeom>
          <a:solidFill>
            <a:srgbClr val="3A0D6E">
              <a:alpha val="8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3" name="Shape 141"/>
          <p:cNvSpPr/>
          <p:nvPr/>
        </p:nvSpPr>
        <p:spPr>
          <a:xfrm>
            <a:off x="1751076" y="2633472"/>
            <a:ext cx="219456" cy="219456"/>
          </a:xfrm>
          <a:prstGeom prst="rect">
            <a:avLst/>
          </a:prstGeom>
          <a:solidFill>
            <a:srgbClr val="0D1A6E">
              <a:alpha val="82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4" name="Shape 142"/>
          <p:cNvSpPr/>
          <p:nvPr/>
        </p:nvSpPr>
        <p:spPr>
          <a:xfrm>
            <a:off x="1979676" y="2633472"/>
            <a:ext cx="219456" cy="219456"/>
          </a:xfrm>
          <a:prstGeom prst="rect">
            <a:avLst/>
          </a:prstGeom>
          <a:solidFill>
            <a:srgbClr val="0D5F6E">
              <a:alpha val="77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5" name="Shape 143"/>
          <p:cNvSpPr/>
          <p:nvPr/>
        </p:nvSpPr>
        <p:spPr>
          <a:xfrm>
            <a:off x="2208276" y="2633472"/>
            <a:ext cx="219456" cy="219456"/>
          </a:xfrm>
          <a:prstGeom prst="rect">
            <a:avLst/>
          </a:prstGeom>
          <a:solidFill>
            <a:srgbClr val="0D4F6E">
              <a:alpha val="90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6" name="Shape 144"/>
          <p:cNvSpPr/>
          <p:nvPr/>
        </p:nvSpPr>
        <p:spPr>
          <a:xfrm>
            <a:off x="2436876" y="2633472"/>
            <a:ext cx="219456" cy="219456"/>
          </a:xfrm>
          <a:prstGeom prst="rect">
            <a:avLst/>
          </a:prstGeom>
          <a:solidFill>
            <a:srgbClr val="0D6E5F">
              <a:alpha val="8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7" name="Shape 145"/>
          <p:cNvSpPr/>
          <p:nvPr/>
        </p:nvSpPr>
        <p:spPr>
          <a:xfrm>
            <a:off x="2665476" y="2633472"/>
            <a:ext cx="219456" cy="219456"/>
          </a:xfrm>
          <a:prstGeom prst="rect">
            <a:avLst/>
          </a:prstGeom>
          <a:solidFill>
            <a:srgbClr val="0D6E3A">
              <a:alpha val="74000"/>
            </a:srgbClr>
          </a:solidFill>
          <a:ln w="635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" name="Text 0"/>
          <p:cNvSpPr/>
          <p:nvPr/>
        </p:nvSpPr>
        <p:spPr>
          <a:xfrm>
            <a:off x="2967990" y="1417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D6A0"/>
                </a:solidFill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01974" y="118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V3 — Self-Organizing Map (SOM)</a:t>
            </a:r>
            <a:endParaRPr lang="en-US" sz="2400" dirty="0"/>
          </a:p>
        </p:txBody>
      </p:sp>
      <p:sp>
        <p:nvSpPr>
          <p:cNvPr id="149" name="Shape 147"/>
          <p:cNvSpPr/>
          <p:nvPr/>
        </p:nvSpPr>
        <p:spPr>
          <a:xfrm>
            <a:off x="3291840" y="1143000"/>
            <a:ext cx="5669280" cy="1188720"/>
          </a:xfrm>
          <a:prstGeom prst="rect">
            <a:avLst/>
          </a:prstGeom>
          <a:solidFill>
            <a:srgbClr val="0F2C54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50" name="Text 148"/>
          <p:cNvSpPr/>
          <p:nvPr/>
        </p:nvSpPr>
        <p:spPr>
          <a:xfrm>
            <a:off x="338328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Nasıl Çalışır?</a:t>
            </a:r>
            <a:endParaRPr lang="en-US" sz="1200" dirty="0"/>
          </a:p>
        </p:txBody>
      </p:sp>
      <p:sp>
        <p:nvSpPr>
          <p:cNvPr id="151" name="Text 149"/>
          <p:cNvSpPr/>
          <p:nvPr/>
        </p:nvSpPr>
        <p:spPr>
          <a:xfrm>
            <a:off x="3383280" y="1508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Her futbolcu 20 boyutlu özellik vektörüne göre 2B haritada bir BMU (Best Matching Unit) hücresine atanır. Komşu hücreler benzer oyun stilini temsil eder.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1645920" y="3035808"/>
            <a:ext cx="146304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53" name="Text 151"/>
          <p:cNvSpPr/>
          <p:nvPr/>
        </p:nvSpPr>
        <p:spPr>
          <a:xfrm>
            <a:off x="1645920" y="30358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Harita Boyutu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3108960" y="3035808"/>
            <a:ext cx="128016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5" name="Text 153"/>
          <p:cNvSpPr/>
          <p:nvPr/>
        </p:nvSpPr>
        <p:spPr>
          <a:xfrm>
            <a:off x="3108960" y="30358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8×8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4389120" y="3035808"/>
            <a:ext cx="128016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7" name="Text 155"/>
          <p:cNvSpPr/>
          <p:nvPr/>
        </p:nvSpPr>
        <p:spPr>
          <a:xfrm>
            <a:off x="4389120" y="30358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10×10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5669280" y="3035808"/>
            <a:ext cx="1463040" cy="365760"/>
          </a:xfrm>
          <a:prstGeom prst="rect">
            <a:avLst/>
          </a:prstGeom>
          <a:solidFill>
            <a:srgbClr val="1A3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59" name="Text 157"/>
          <p:cNvSpPr/>
          <p:nvPr/>
        </p:nvSpPr>
        <p:spPr>
          <a:xfrm>
            <a:off x="5669280" y="30358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12×12 ✓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7132320" y="3035808"/>
            <a:ext cx="128016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1" name="Text 159"/>
          <p:cNvSpPr/>
          <p:nvPr/>
        </p:nvSpPr>
        <p:spPr>
          <a:xfrm>
            <a:off x="7132320" y="30358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15×15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1645920" y="3419856"/>
            <a:ext cx="146304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3" name="Text 161"/>
          <p:cNvSpPr/>
          <p:nvPr/>
        </p:nvSpPr>
        <p:spPr>
          <a:xfrm>
            <a:off x="1645920" y="34198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Quant. Error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3108960" y="3419856"/>
            <a:ext cx="128016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5" name="Text 163"/>
          <p:cNvSpPr/>
          <p:nvPr/>
        </p:nvSpPr>
        <p:spPr>
          <a:xfrm>
            <a:off x="3108960" y="34198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1.6596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4389120" y="3419856"/>
            <a:ext cx="128016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7" name="Text 165"/>
          <p:cNvSpPr/>
          <p:nvPr/>
        </p:nvSpPr>
        <p:spPr>
          <a:xfrm>
            <a:off x="4389120" y="34198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1.5595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5669280" y="3419856"/>
            <a:ext cx="1463040" cy="365760"/>
          </a:xfrm>
          <a:prstGeom prst="rect">
            <a:avLst/>
          </a:prstGeom>
          <a:solidFill>
            <a:srgbClr val="1A3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9" name="Text 167"/>
          <p:cNvSpPr/>
          <p:nvPr/>
        </p:nvSpPr>
        <p:spPr>
          <a:xfrm>
            <a:off x="5669280" y="34198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1.4811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7132320" y="3419856"/>
            <a:ext cx="128016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1" name="Text 169"/>
          <p:cNvSpPr/>
          <p:nvPr/>
        </p:nvSpPr>
        <p:spPr>
          <a:xfrm>
            <a:off x="7132320" y="34198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1.3803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1645920" y="3803904"/>
            <a:ext cx="146304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3" name="Text 171"/>
          <p:cNvSpPr/>
          <p:nvPr/>
        </p:nvSpPr>
        <p:spPr>
          <a:xfrm>
            <a:off x="1645920" y="38039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Topo. Error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3108960" y="3803904"/>
            <a:ext cx="128016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5" name="Text 173"/>
          <p:cNvSpPr/>
          <p:nvPr/>
        </p:nvSpPr>
        <p:spPr>
          <a:xfrm>
            <a:off x="3108960" y="38039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0.0962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4389120" y="3803904"/>
            <a:ext cx="128016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7" name="Text 175"/>
          <p:cNvSpPr/>
          <p:nvPr/>
        </p:nvSpPr>
        <p:spPr>
          <a:xfrm>
            <a:off x="4389120" y="38039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0.1652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5669280" y="3803904"/>
            <a:ext cx="1463040" cy="365760"/>
          </a:xfrm>
          <a:prstGeom prst="rect">
            <a:avLst/>
          </a:prstGeom>
          <a:solidFill>
            <a:srgbClr val="1A3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9" name="Text 177"/>
          <p:cNvSpPr/>
          <p:nvPr/>
        </p:nvSpPr>
        <p:spPr>
          <a:xfrm>
            <a:off x="5669280" y="38039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0.1952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7132320" y="3803904"/>
            <a:ext cx="128016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1" name="Text 179"/>
          <p:cNvSpPr/>
          <p:nvPr/>
        </p:nvSpPr>
        <p:spPr>
          <a:xfrm>
            <a:off x="7132320" y="38039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0.2230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1645920" y="4187952"/>
            <a:ext cx="1463040" cy="365760"/>
          </a:xfrm>
          <a:prstGeom prst="rect">
            <a:avLst/>
          </a:prstGeom>
          <a:solidFill>
            <a:srgbClr val="0F2C5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3" name="Text 181"/>
          <p:cNvSpPr/>
          <p:nvPr/>
        </p:nvSpPr>
        <p:spPr>
          <a:xfrm>
            <a:off x="1645920" y="4187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Silhouette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3108960" y="4187952"/>
            <a:ext cx="128016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5" name="Text 183"/>
          <p:cNvSpPr/>
          <p:nvPr/>
        </p:nvSpPr>
        <p:spPr>
          <a:xfrm>
            <a:off x="3108960" y="4187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0.0701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4389120" y="4187952"/>
            <a:ext cx="128016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7" name="Text 185"/>
          <p:cNvSpPr/>
          <p:nvPr/>
        </p:nvSpPr>
        <p:spPr>
          <a:xfrm>
            <a:off x="4389120" y="4187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0.0570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5669280" y="4187952"/>
            <a:ext cx="1463040" cy="365760"/>
          </a:xfrm>
          <a:prstGeom prst="rect">
            <a:avLst/>
          </a:prstGeom>
          <a:solidFill>
            <a:srgbClr val="1A3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9" name="Text 187"/>
          <p:cNvSpPr/>
          <p:nvPr/>
        </p:nvSpPr>
        <p:spPr>
          <a:xfrm>
            <a:off x="5669280" y="4187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0.0522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7132320" y="4187952"/>
            <a:ext cx="128016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1" name="Text 189"/>
          <p:cNvSpPr/>
          <p:nvPr/>
        </p:nvSpPr>
        <p:spPr>
          <a:xfrm>
            <a:off x="7132320" y="4187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0.0485</a:t>
            </a:r>
            <a:endParaRPr lang="en-US" sz="900" dirty="0"/>
          </a:p>
        </p:txBody>
      </p:sp>
      <p:sp>
        <p:nvSpPr>
          <p:cNvPr id="192" name="Text 190"/>
          <p:cNvSpPr/>
          <p:nvPr/>
        </p:nvSpPr>
        <p:spPr>
          <a:xfrm>
            <a:off x="1712595" y="4617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6D6A0"/>
                </a:solidFill>
              </a:rPr>
              <a:t>12×12 seçildi — denge: temsil gücü &amp; eşit dağılım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82880" y="137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B5DE5"/>
                </a:solidFill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117"/>
                </a:solidFill>
              </a:rPr>
              <a:t>Model Performans Karşılaştırması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Silhouette Skoru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Yüksek daha iyi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09728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V1 (AE)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0.2116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83080" y="1828800"/>
            <a:ext cx="10972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78308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</a:rPr>
              <a:t>V2 (VAE)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83080" y="20665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703"/>
                </a:solidFill>
              </a:rPr>
              <a:t>0.2470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2606040"/>
            <a:ext cx="15544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6868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+16.7%  (V2 Kazandı)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Davies-Bouldin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Düşük daha iyi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828800"/>
            <a:ext cx="109728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33756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V1 (AE)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37560" y="20665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1.2943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10972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0916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</a:rPr>
              <a:t>V2 (VAE)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9160" y="20665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703"/>
                </a:solidFill>
              </a:rPr>
              <a:t>1.0807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94760" y="2606040"/>
            <a:ext cx="15544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79476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-16.5%  (V2 Kazandı)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1430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Calinski-Harabasz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Yüksek daha iyi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1828800"/>
            <a:ext cx="109728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26364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V1 (AE)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3640" y="20665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606.1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35240" y="1828800"/>
            <a:ext cx="10972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763524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</a:rPr>
              <a:t>V2 (VAE)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35240" y="20665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703"/>
                </a:solidFill>
              </a:rPr>
              <a:t>809.5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20840" y="2606040"/>
            <a:ext cx="15544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72084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+33.6%  (V2 Kazandı)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291840"/>
            <a:ext cx="2011680" cy="329184"/>
          </a:xfrm>
          <a:prstGeom prst="rect">
            <a:avLst/>
          </a:prstGeom>
          <a:solidFill>
            <a:srgbClr val="0F2C54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57200" y="32918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Özellik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68880" y="3291840"/>
            <a:ext cx="2011680" cy="329184"/>
          </a:xfrm>
          <a:prstGeom prst="rect">
            <a:avLst/>
          </a:prstGeom>
          <a:solidFill>
            <a:srgbClr val="0F2C54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2468880" y="32918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V1 (AE)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80560" y="3291840"/>
            <a:ext cx="2011680" cy="329184"/>
          </a:xfrm>
          <a:prstGeom prst="rect">
            <a:avLst/>
          </a:prstGeom>
          <a:solidFill>
            <a:srgbClr val="0F2C54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480560" y="32918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V2 (VAE)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92240" y="3291840"/>
            <a:ext cx="2011680" cy="329184"/>
          </a:xfrm>
          <a:prstGeom prst="rect">
            <a:avLst/>
          </a:prstGeom>
          <a:solidFill>
            <a:srgbClr val="0F2C54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6492240" y="32918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V3 (SOM)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3639312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57200" y="363931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Latent Boyut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68880" y="3639312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2468880" y="363931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12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80560" y="3639312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4480560" y="363931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16 (+33%)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92240" y="3639312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6492240" y="363931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12×12 Grid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3986784"/>
            <a:ext cx="201168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457200" y="398678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Küme Sayısı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468880" y="3986784"/>
            <a:ext cx="201168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2468880" y="398678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5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80560" y="3986784"/>
            <a:ext cx="201168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4480560" y="398678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8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492240" y="3986784"/>
            <a:ext cx="201168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6492240" y="398678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144 BMU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4334256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457200" y="43342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Kümeleme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468880" y="4334256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63"/>
          <p:cNvSpPr/>
          <p:nvPr/>
        </p:nvSpPr>
        <p:spPr>
          <a:xfrm>
            <a:off x="2468880" y="43342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Ensemble (K+A+GMM)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480560" y="4334256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4480560" y="43342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GMM Yumuşak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492240" y="4334256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6492240" y="43342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Öz-düzenleme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4681728"/>
            <a:ext cx="201168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457200" y="468172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Model Türü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468880" y="4681728"/>
            <a:ext cx="201168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 71"/>
          <p:cNvSpPr/>
          <p:nvPr/>
        </p:nvSpPr>
        <p:spPr>
          <a:xfrm>
            <a:off x="2468880" y="468172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Klasik AE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480560" y="4681728"/>
            <a:ext cx="201168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Text 73"/>
          <p:cNvSpPr/>
          <p:nvPr/>
        </p:nvSpPr>
        <p:spPr>
          <a:xfrm>
            <a:off x="4480560" y="468172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Generative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492240" y="4681728"/>
            <a:ext cx="201168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Text 75"/>
          <p:cNvSpPr/>
          <p:nvPr/>
        </p:nvSpPr>
        <p:spPr>
          <a:xfrm>
            <a:off x="6492240" y="468172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117"/>
                </a:solidFill>
              </a:rPr>
              <a:t>Topolojik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703"/>
                </a:solidFill>
              </a:rPr>
              <a:t>1</a:t>
            </a:r>
            <a:r>
              <a:rPr lang="tr-TR" sz="2600" b="1" dirty="0">
                <a:solidFill>
                  <a:srgbClr val="FFB703"/>
                </a:solidFill>
              </a:rPr>
              <a:t>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Streamlit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Arayüzü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3D9E3ED9-B6E6-17B5-F8CE-F8F83A267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1" y="822960"/>
            <a:ext cx="8778239" cy="373253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4D963A9E-242F-E2BE-062B-41F5E1925C25}"/>
              </a:ext>
            </a:extLst>
          </p:cNvPr>
          <p:cNvSpPr/>
          <p:nvPr/>
        </p:nvSpPr>
        <p:spPr>
          <a:xfrm>
            <a:off x="182880" y="4655185"/>
            <a:ext cx="8778240" cy="32004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BF4A0A1-8326-A4DD-0236-C910C20D8776}"/>
              </a:ext>
            </a:extLst>
          </p:cNvPr>
          <p:cNvSpPr/>
          <p:nvPr/>
        </p:nvSpPr>
        <p:spPr>
          <a:xfrm>
            <a:off x="182880" y="4655185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Oyuncu istatistikleri girilerek V1/V2 model sonuçları ve benzer oyuncular listelenmektedir.</a:t>
            </a:r>
            <a:endParaRPr lang="en-US" sz="1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Mürekkep 17">
                <a:extLst>
                  <a:ext uri="{FF2B5EF4-FFF2-40B4-BE49-F238E27FC236}">
                    <a16:creationId xmlns:a16="http://schemas.microsoft.com/office/drawing/2014/main" id="{6E246096-232C-566F-2282-CC0CC59C706D}"/>
                  </a:ext>
                </a:extLst>
              </p14:cNvPr>
              <p14:cNvContentPartPr/>
              <p14:nvPr/>
            </p14:nvContentPartPr>
            <p14:xfrm>
              <a:off x="3006461" y="1250993"/>
              <a:ext cx="32400" cy="24480"/>
            </p14:xfrm>
          </p:contentPart>
        </mc:Choice>
        <mc:Fallback xmlns="">
          <p:pic>
            <p:nvPicPr>
              <p:cNvPr id="18" name="Mürekkep 17">
                <a:extLst>
                  <a:ext uri="{FF2B5EF4-FFF2-40B4-BE49-F238E27FC236}">
                    <a16:creationId xmlns:a16="http://schemas.microsoft.com/office/drawing/2014/main" id="{6E246096-232C-566F-2282-CC0CC59C70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0341" y="1244873"/>
                <a:ext cx="44640" cy="3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</a:rPr>
              <a:t>1</a:t>
            </a:r>
            <a:r>
              <a:rPr lang="tr-TR" sz="2600" b="1" dirty="0">
                <a:solidFill>
                  <a:srgbClr val="00B4D8"/>
                </a:solidFill>
              </a:rPr>
              <a:t>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 err="1">
                <a:solidFill>
                  <a:srgbClr val="FFFFFF"/>
                </a:solidFill>
              </a:rPr>
              <a:t>Streamlit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Arayüzü</a:t>
            </a:r>
            <a:r>
              <a:rPr lang="en-US" sz="2200" b="1" dirty="0">
                <a:solidFill>
                  <a:srgbClr val="FFFFFF"/>
                </a:solidFill>
              </a:rPr>
              <a:t> — </a:t>
            </a:r>
            <a:r>
              <a:rPr lang="en-US" sz="2200" b="1" dirty="0" err="1">
                <a:solidFill>
                  <a:srgbClr val="FFFFFF"/>
                </a:solidFill>
              </a:rPr>
              <a:t>Oyuncu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Karşılaştırma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60120"/>
            <a:ext cx="8778240" cy="3657600"/>
          </a:xfrm>
          <a:prstGeom prst="rect">
            <a:avLst/>
          </a:prstGeom>
        </p:spPr>
      </p:pic>
      <p:sp>
        <p:nvSpPr>
          <p:cNvPr id="8" name="Shape 2">
            <a:extLst>
              <a:ext uri="{FF2B5EF4-FFF2-40B4-BE49-F238E27FC236}">
                <a16:creationId xmlns:a16="http://schemas.microsoft.com/office/drawing/2014/main" id="{948CFD1D-4B5D-7AC5-5CD8-50F58C28B5A2}"/>
              </a:ext>
            </a:extLst>
          </p:cNvPr>
          <p:cNvSpPr/>
          <p:nvPr/>
        </p:nvSpPr>
        <p:spPr>
          <a:xfrm>
            <a:off x="182880" y="4732020"/>
            <a:ext cx="8778240" cy="320040"/>
          </a:xfrm>
          <a:prstGeom prst="rect">
            <a:avLst/>
          </a:prstGeom>
          <a:solidFill>
            <a:srgbClr val="0F2C54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4453B61-426F-9411-1B3E-19D440E3C8EE}"/>
              </a:ext>
            </a:extLst>
          </p:cNvPr>
          <p:cNvSpPr/>
          <p:nvPr/>
        </p:nvSpPr>
        <p:spPr>
          <a:xfrm>
            <a:off x="182880" y="473202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İki oyuncu seçilerek yapay zeka benzerlik skoru ve radar grafiğiyle istatistik karşılaştırması yapılır. (Örnek: Osimhen vs B.A.Yılmaz — %63 benzerlik)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5DE5"/>
                </a:solidFill>
              </a:rPr>
              <a:t>1</a:t>
            </a:r>
            <a:r>
              <a:rPr lang="tr-TR" sz="2600" b="1" dirty="0">
                <a:solidFill>
                  <a:srgbClr val="9B5DE5"/>
                </a:solidFill>
              </a:rPr>
              <a:t>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b="1" dirty="0" err="1">
                <a:solidFill>
                  <a:srgbClr val="FFFFFF"/>
                </a:solidFill>
              </a:rPr>
              <a:t>Streamlit</a:t>
            </a:r>
            <a:r>
              <a:rPr lang="en-US" sz="2100" b="1" dirty="0">
                <a:solidFill>
                  <a:srgbClr val="FFFFFF"/>
                </a:solidFill>
              </a:rPr>
              <a:t> </a:t>
            </a:r>
            <a:r>
              <a:rPr lang="en-US" sz="2100" b="1" dirty="0" err="1">
                <a:solidFill>
                  <a:srgbClr val="FFFFFF"/>
                </a:solidFill>
              </a:rPr>
              <a:t>Arayüzü</a:t>
            </a:r>
            <a:r>
              <a:rPr lang="en-US" sz="2100" b="1" dirty="0">
                <a:solidFill>
                  <a:srgbClr val="FFFFFF"/>
                </a:solidFill>
              </a:rPr>
              <a:t> — UMAP </a:t>
            </a:r>
            <a:r>
              <a:rPr lang="en-US" sz="2100" b="1" dirty="0" err="1">
                <a:solidFill>
                  <a:srgbClr val="FFFFFF"/>
                </a:solidFill>
              </a:rPr>
              <a:t>Kümeleme</a:t>
            </a:r>
            <a:r>
              <a:rPr lang="en-US" sz="2100" b="1" dirty="0">
                <a:solidFill>
                  <a:srgbClr val="FFFFFF"/>
                </a:solidFill>
              </a:rPr>
              <a:t> </a:t>
            </a:r>
            <a:r>
              <a:rPr lang="en-US" sz="2100" b="1" dirty="0" err="1">
                <a:solidFill>
                  <a:srgbClr val="FFFFFF"/>
                </a:solidFill>
              </a:rPr>
              <a:t>Haritası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82880" y="4663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A179625B-FB01-2D94-32FB-3176E77CA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" y="910599"/>
            <a:ext cx="8575040" cy="3752841"/>
          </a:xfrm>
          <a:prstGeom prst="rect">
            <a:avLst/>
          </a:prstGeom>
        </p:spPr>
      </p:pic>
      <p:sp>
        <p:nvSpPr>
          <p:cNvPr id="11" name="Shape 2">
            <a:extLst>
              <a:ext uri="{FF2B5EF4-FFF2-40B4-BE49-F238E27FC236}">
                <a16:creationId xmlns:a16="http://schemas.microsoft.com/office/drawing/2014/main" id="{A704BA45-DADB-2993-5E8A-6D6F5FD405E7}"/>
              </a:ext>
            </a:extLst>
          </p:cNvPr>
          <p:cNvSpPr/>
          <p:nvPr/>
        </p:nvSpPr>
        <p:spPr>
          <a:xfrm>
            <a:off x="182880" y="4709160"/>
            <a:ext cx="8778240" cy="320040"/>
          </a:xfrm>
          <a:prstGeom prst="rect">
            <a:avLst/>
          </a:prstGeom>
          <a:solidFill>
            <a:srgbClr val="0F2C54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F170C2B8-C3C4-6CEE-C473-423DFC0A3698}"/>
              </a:ext>
            </a:extLst>
          </p:cNvPr>
          <p:cNvSpPr/>
          <p:nvPr/>
        </p:nvSpPr>
        <p:spPr>
          <a:xfrm>
            <a:off x="182880" y="470916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V1 ve V2 UMAP uzayında oyuncu konumu (X) ve benzer oyuncular (⭐) interaktif olarak gösterilir.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D6A0"/>
                </a:solidFill>
              </a:rPr>
              <a:t>1</a:t>
            </a:r>
            <a:r>
              <a:rPr lang="tr-TR" sz="2600" b="1" dirty="0">
                <a:solidFill>
                  <a:srgbClr val="06D6A0"/>
                </a:solidFill>
              </a:rPr>
              <a:t>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 err="1">
                <a:solidFill>
                  <a:srgbClr val="FFFFFF"/>
                </a:solidFill>
              </a:rPr>
              <a:t>Streamlit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Arayüzü</a:t>
            </a:r>
            <a:r>
              <a:rPr lang="en-US" sz="2200" b="1" dirty="0">
                <a:solidFill>
                  <a:srgbClr val="FFFFFF"/>
                </a:solidFill>
              </a:rPr>
              <a:t> — Model </a:t>
            </a:r>
            <a:r>
              <a:rPr lang="en-US" sz="2200" b="1" dirty="0" err="1">
                <a:solidFill>
                  <a:srgbClr val="FFFFFF"/>
                </a:solidFill>
              </a:rPr>
              <a:t>Metrik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Karşılaştırması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59A09FA5-5A3A-0D4A-AEB2-9145A4B92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33609"/>
            <a:ext cx="8503920" cy="40964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82880" y="137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233C"/>
                </a:solidFill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</a:rPr>
              <a:t>Hibrit Benzerlik Sistemi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solidFill>
            <a:srgbClr val="0F2C54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Hibrit Skor  =  0.6 × Cosine Benzerliği  +  0.4 × Euclidean Benzerliği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41148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📐  Cosine Similarity (60%)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Latent uzayındaki iki vektör arasındaki açıyı ölçer. Mutlak büyüklükten bağımsız oyun stili benzerliğini yakalar. Yüksek ağırlık nedeni: oyun stilini en iyi tanımlayan metriktir.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41148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5488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703"/>
                </a:solidFill>
              </a:rPr>
              <a:t>📏  Euclidean Similarity (40%)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7889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Latent uzayındaki Öklidyen mesafeyi normalize eder. İstatistiksel büyüklük farklarını da hesaba katar. Düşük ağırlık: büyüklük değil, stil önceliklidir.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&amp; Değerlendirme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55448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3 Farklı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562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Autoencoder, VAE ve SOM ile gözetimsiz öğrenme yaklaşımları karşılaştırıldı.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55448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536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V2 Üstünlüğü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8562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VAE, tüm kümeleme metriklerinde V1'i geride bıraktı (+16.7% Silhouette).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51760" cy="155448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0807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80760" y="1536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SOM Topoloji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8562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12×12 SOM haritası dengeli dağılım ve iyi temsil gücü sağladı.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2651760" cy="155448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2004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0040" y="32278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Hibrit Benzerlik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5478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Cosine+Euclidean hibrit skoru, oyun stili benzerliğini doğru yakaladı.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2651760" cy="155448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20040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00400" y="32278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Streamlit 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5478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3 modeli entegre eden kullanıcı dostu web arayüzü başarıyla tamamlandı.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2697480"/>
            <a:ext cx="2651760" cy="1554480"/>
          </a:xfrm>
          <a:prstGeom prst="rect">
            <a:avLst/>
          </a:prstGeom>
          <a:solidFill>
            <a:srgbClr val="0F2C5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08076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⚽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080760" y="32278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Gerçek Veri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5478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</a:t>
            </a:r>
            <a:r>
              <a:rPr lang="tr-TR" sz="950" dirty="0">
                <a:solidFill>
                  <a:srgbClr val="FFFFFF"/>
                </a:solidFill>
              </a:rPr>
              <a:t>933</a:t>
            </a:r>
            <a:r>
              <a:rPr lang="en-US" sz="950" dirty="0">
                <a:solidFill>
                  <a:srgbClr val="FFFFFF"/>
                </a:solidFill>
              </a:rPr>
              <a:t> gerçek futbolcu üzerinde test edildi; anlamlı kümeler elde edildi.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961</Words>
  <Application>Microsoft Office PowerPoint</Application>
  <PresentationFormat>Ekran Gösterisi (16:9)</PresentationFormat>
  <Paragraphs>287</Paragraphs>
  <Slides>17</Slides>
  <Notes>17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18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Futbolcu Oyun Stili Analizi – Yapay Sinir Ağları</dc:title>
  <dc:subject>PptxGenJS Presentation</dc:subject>
  <dc:creator>PptxGenJS</dc:creator>
  <cp:lastModifiedBy>Berk Sahin</cp:lastModifiedBy>
  <cp:revision>9</cp:revision>
  <dcterms:created xsi:type="dcterms:W3CDTF">2026-05-31T00:41:01Z</dcterms:created>
  <dcterms:modified xsi:type="dcterms:W3CDTF">2026-05-31T03:08:50Z</dcterms:modified>
</cp:coreProperties>
</file>